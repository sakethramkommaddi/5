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9569450"/>
  <p:notesSz cx="11430000" cy="9569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2" d="100"/>
          <a:sy n="42" d="100"/>
        </p:scale>
        <p:origin x="168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8270" y="673100"/>
            <a:ext cx="6426200" cy="9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2053272"/>
            <a:ext cx="5732780" cy="204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302F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factcheck.org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5217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86325" y="1754188"/>
            <a:ext cx="257175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TruthLens</a:t>
            </a:r>
            <a:r>
              <a:rPr spc="-40" dirty="0"/>
              <a:t> </a:t>
            </a:r>
            <a:r>
              <a:rPr spc="-25" dirty="0"/>
              <a:t>AI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829809" y="2511583"/>
            <a:ext cx="5732780" cy="2042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5780"/>
              </a:lnSpc>
              <a:spcBef>
                <a:spcPts val="130"/>
              </a:spcBef>
            </a:pPr>
            <a:r>
              <a:rPr spc="-10" dirty="0"/>
              <a:t>Real-</a:t>
            </a:r>
            <a:r>
              <a:rPr dirty="0"/>
              <a:t>Time</a:t>
            </a:r>
            <a:r>
              <a:rPr spc="-5" dirty="0"/>
              <a:t> </a:t>
            </a:r>
            <a:r>
              <a:rPr dirty="0"/>
              <a:t>Fake </a:t>
            </a:r>
            <a:r>
              <a:rPr spc="-20" dirty="0"/>
              <a:t>News </a:t>
            </a:r>
            <a:r>
              <a:rPr spc="-10" dirty="0"/>
              <a:t>Detection</a:t>
            </a:r>
          </a:p>
          <a:p>
            <a:pPr marL="12700">
              <a:lnSpc>
                <a:spcPct val="100000"/>
              </a:lnSpc>
              <a:spcBef>
                <a:spcPts val="266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AI</a:t>
            </a:r>
            <a:r>
              <a:rPr sz="1350" spc="-1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·</a:t>
            </a:r>
            <a:r>
              <a:rPr sz="1350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NLP</a:t>
            </a:r>
            <a:r>
              <a:rPr sz="1350" spc="-1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·</a:t>
            </a:r>
            <a:r>
              <a:rPr sz="1350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Source</a:t>
            </a:r>
            <a:r>
              <a:rPr sz="1350" spc="-1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Verification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52364" y="4838065"/>
            <a:ext cx="695325" cy="323850"/>
          </a:xfrm>
          <a:custGeom>
            <a:avLst/>
            <a:gdLst/>
            <a:ahLst/>
            <a:cxnLst/>
            <a:rect l="l" t="t" r="r" b="b"/>
            <a:pathLst>
              <a:path w="695325" h="323850">
                <a:moveTo>
                  <a:pt x="653681" y="0"/>
                </a:moveTo>
                <a:lnTo>
                  <a:pt x="41643" y="0"/>
                </a:lnTo>
                <a:lnTo>
                  <a:pt x="35509" y="1219"/>
                </a:lnTo>
                <a:lnTo>
                  <a:pt x="1219" y="35521"/>
                </a:lnTo>
                <a:lnTo>
                  <a:pt x="0" y="41643"/>
                </a:lnTo>
                <a:lnTo>
                  <a:pt x="0" y="275844"/>
                </a:lnTo>
                <a:lnTo>
                  <a:pt x="0" y="282206"/>
                </a:lnTo>
                <a:lnTo>
                  <a:pt x="23749" y="317754"/>
                </a:lnTo>
                <a:lnTo>
                  <a:pt x="41643" y="323850"/>
                </a:lnTo>
                <a:lnTo>
                  <a:pt x="653681" y="323850"/>
                </a:lnTo>
                <a:lnTo>
                  <a:pt x="689229" y="300088"/>
                </a:lnTo>
                <a:lnTo>
                  <a:pt x="695325" y="282206"/>
                </a:lnTo>
                <a:lnTo>
                  <a:pt x="695325" y="41643"/>
                </a:lnTo>
                <a:lnTo>
                  <a:pt x="671576" y="6083"/>
                </a:lnTo>
                <a:lnTo>
                  <a:pt x="659815" y="1219"/>
                </a:lnTo>
                <a:lnTo>
                  <a:pt x="653681" y="0"/>
                </a:lnTo>
                <a:close/>
              </a:path>
            </a:pathLst>
          </a:custGeom>
          <a:solidFill>
            <a:srgbClr val="E8E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72137" y="4319587"/>
            <a:ext cx="4048125" cy="333375"/>
          </a:xfrm>
          <a:custGeom>
            <a:avLst/>
            <a:gdLst/>
            <a:ahLst/>
            <a:cxnLst/>
            <a:rect l="l" t="t" r="r" b="b"/>
            <a:pathLst>
              <a:path w="4048125" h="333375">
                <a:moveTo>
                  <a:pt x="0" y="290131"/>
                </a:moveTo>
                <a:lnTo>
                  <a:pt x="0" y="43243"/>
                </a:lnTo>
                <a:lnTo>
                  <a:pt x="0" y="37503"/>
                </a:lnTo>
                <a:lnTo>
                  <a:pt x="1092" y="31991"/>
                </a:lnTo>
                <a:lnTo>
                  <a:pt x="3289" y="26695"/>
                </a:lnTo>
                <a:lnTo>
                  <a:pt x="5486" y="21399"/>
                </a:lnTo>
                <a:lnTo>
                  <a:pt x="8610" y="16713"/>
                </a:lnTo>
                <a:lnTo>
                  <a:pt x="12661" y="12661"/>
                </a:lnTo>
                <a:lnTo>
                  <a:pt x="16713" y="8610"/>
                </a:lnTo>
                <a:lnTo>
                  <a:pt x="21399" y="5486"/>
                </a:lnTo>
                <a:lnTo>
                  <a:pt x="26695" y="3289"/>
                </a:lnTo>
                <a:lnTo>
                  <a:pt x="31991" y="1092"/>
                </a:lnTo>
                <a:lnTo>
                  <a:pt x="37515" y="0"/>
                </a:lnTo>
                <a:lnTo>
                  <a:pt x="43243" y="0"/>
                </a:lnTo>
                <a:lnTo>
                  <a:pt x="4004881" y="0"/>
                </a:lnTo>
                <a:lnTo>
                  <a:pt x="4010609" y="0"/>
                </a:lnTo>
                <a:lnTo>
                  <a:pt x="4016133" y="1092"/>
                </a:lnTo>
                <a:lnTo>
                  <a:pt x="4021429" y="3289"/>
                </a:lnTo>
                <a:lnTo>
                  <a:pt x="4026725" y="5486"/>
                </a:lnTo>
                <a:lnTo>
                  <a:pt x="4031399" y="8610"/>
                </a:lnTo>
                <a:lnTo>
                  <a:pt x="4035463" y="12661"/>
                </a:lnTo>
                <a:lnTo>
                  <a:pt x="4039514" y="16713"/>
                </a:lnTo>
                <a:lnTo>
                  <a:pt x="4042638" y="21399"/>
                </a:lnTo>
                <a:lnTo>
                  <a:pt x="4044835" y="26695"/>
                </a:lnTo>
                <a:lnTo>
                  <a:pt x="4047032" y="31991"/>
                </a:lnTo>
                <a:lnTo>
                  <a:pt x="4048125" y="37503"/>
                </a:lnTo>
                <a:lnTo>
                  <a:pt x="4048125" y="43243"/>
                </a:lnTo>
                <a:lnTo>
                  <a:pt x="4048125" y="290131"/>
                </a:lnTo>
                <a:lnTo>
                  <a:pt x="4048125" y="295871"/>
                </a:lnTo>
                <a:lnTo>
                  <a:pt x="4047032" y="301383"/>
                </a:lnTo>
                <a:lnTo>
                  <a:pt x="4044835" y="306679"/>
                </a:lnTo>
                <a:lnTo>
                  <a:pt x="4042638" y="311975"/>
                </a:lnTo>
                <a:lnTo>
                  <a:pt x="4010609" y="333375"/>
                </a:lnTo>
                <a:lnTo>
                  <a:pt x="4004881" y="333375"/>
                </a:lnTo>
                <a:lnTo>
                  <a:pt x="43243" y="333375"/>
                </a:lnTo>
                <a:lnTo>
                  <a:pt x="37515" y="333375"/>
                </a:lnTo>
                <a:lnTo>
                  <a:pt x="31991" y="332270"/>
                </a:lnTo>
                <a:lnTo>
                  <a:pt x="26695" y="330085"/>
                </a:lnTo>
                <a:lnTo>
                  <a:pt x="21399" y="327888"/>
                </a:lnTo>
                <a:lnTo>
                  <a:pt x="16713" y="324764"/>
                </a:lnTo>
                <a:lnTo>
                  <a:pt x="12661" y="320700"/>
                </a:lnTo>
                <a:lnTo>
                  <a:pt x="8610" y="316649"/>
                </a:lnTo>
                <a:lnTo>
                  <a:pt x="5486" y="311975"/>
                </a:lnTo>
                <a:lnTo>
                  <a:pt x="3289" y="306679"/>
                </a:lnTo>
                <a:lnTo>
                  <a:pt x="1092" y="301383"/>
                </a:lnTo>
                <a:lnTo>
                  <a:pt x="0" y="295871"/>
                </a:lnTo>
                <a:lnTo>
                  <a:pt x="0" y="290131"/>
                </a:lnTo>
                <a:close/>
              </a:path>
            </a:pathLst>
          </a:custGeom>
          <a:ln w="9525">
            <a:solidFill>
              <a:srgbClr val="E5E5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30788" y="4956967"/>
            <a:ext cx="511809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80" dirty="0">
                <a:solidFill>
                  <a:srgbClr val="262424"/>
                </a:solidFill>
                <a:latin typeface="Tahoma"/>
                <a:cs typeface="Tahoma"/>
              </a:rPr>
              <a:t>TEAM</a:t>
            </a:r>
            <a:r>
              <a:rPr sz="10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262424"/>
                </a:solidFill>
                <a:latin typeface="Tahoma"/>
                <a:cs typeface="Tahoma"/>
              </a:rPr>
              <a:t>5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2318" y="4900770"/>
            <a:ext cx="3862704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70" dirty="0">
                <a:solidFill>
                  <a:srgbClr val="262424"/>
                </a:solidFill>
                <a:latin typeface="Tahoma"/>
                <a:cs typeface="Tahoma"/>
              </a:rPr>
              <a:t>KALASALINGAM</a:t>
            </a:r>
            <a:r>
              <a:rPr sz="10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95" dirty="0">
                <a:solidFill>
                  <a:srgbClr val="262424"/>
                </a:solidFill>
                <a:latin typeface="Tahoma"/>
                <a:cs typeface="Tahoma"/>
              </a:rPr>
              <a:t>ACADEMY</a:t>
            </a:r>
            <a:r>
              <a:rPr sz="10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85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0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262424"/>
                </a:solidFill>
                <a:latin typeface="Tahoma"/>
                <a:cs typeface="Tahoma"/>
              </a:rPr>
              <a:t>RESEARCH</a:t>
            </a:r>
            <a:r>
              <a:rPr sz="10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10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0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262424"/>
                </a:solidFill>
                <a:latin typeface="Tahoma"/>
                <a:cs typeface="Tahoma"/>
              </a:rPr>
              <a:t>EDUCATION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6325" y="5347017"/>
            <a:ext cx="48628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Dept.</a:t>
            </a:r>
            <a:r>
              <a:rPr sz="1350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Computer</a:t>
            </a:r>
            <a:r>
              <a:rPr sz="1350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Science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Engineering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·</a:t>
            </a:r>
            <a:r>
              <a:rPr sz="1350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Guide: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195" dirty="0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sz="1350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125" dirty="0">
                <a:solidFill>
                  <a:srgbClr val="262424"/>
                </a:solidFill>
                <a:latin typeface="Tahoma"/>
                <a:cs typeface="Tahoma"/>
              </a:rPr>
              <a:t>K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Nagarajan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240" y="104584"/>
            <a:ext cx="4286250" cy="6438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01650"/>
            <a:ext cx="24657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The</a:t>
            </a:r>
            <a:r>
              <a:rPr spc="-10" dirty="0"/>
              <a:t> Problem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73625" y="1335722"/>
            <a:ext cx="5943600" cy="1009650"/>
            <a:chOff x="4886325" y="1343024"/>
            <a:chExt cx="5943600" cy="1009650"/>
          </a:xfrm>
        </p:grpSpPr>
        <p:sp>
          <p:nvSpPr>
            <p:cNvPr id="5" name="object 5"/>
            <p:cNvSpPr/>
            <p:nvPr/>
          </p:nvSpPr>
          <p:spPr>
            <a:xfrm>
              <a:off x="489108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108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54600" y="1487487"/>
            <a:ext cx="3528695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Rapid</a:t>
            </a:r>
            <a:r>
              <a:rPr sz="1650" spc="2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Spread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Misinformation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outpaces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manual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fact-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checking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86325" y="2524124"/>
            <a:ext cx="5943600" cy="1009650"/>
            <a:chOff x="4886325" y="2524124"/>
            <a:chExt cx="5943600" cy="1009650"/>
          </a:xfrm>
        </p:grpSpPr>
        <p:sp>
          <p:nvSpPr>
            <p:cNvPr id="9" name="object 9"/>
            <p:cNvSpPr/>
            <p:nvPr/>
          </p:nvSpPr>
          <p:spPr>
            <a:xfrm>
              <a:off x="489108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9108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54384" y="2668587"/>
            <a:ext cx="3255645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Verification</a:t>
            </a:r>
            <a:r>
              <a:rPr sz="1650" spc="9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25" dirty="0">
                <a:solidFill>
                  <a:srgbClr val="262424"/>
                </a:solidFill>
                <a:latin typeface="Georgia"/>
                <a:cs typeface="Georgia"/>
              </a:rPr>
              <a:t>Gap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No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real-time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detection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deployed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systems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3705225"/>
            <a:ext cx="5943600" cy="1000125"/>
            <a:chOff x="4886325" y="3705225"/>
            <a:chExt cx="5943600" cy="1000125"/>
          </a:xfrm>
        </p:grpSpPr>
        <p:sp>
          <p:nvSpPr>
            <p:cNvPr id="13" name="object 13"/>
            <p:cNvSpPr/>
            <p:nvPr/>
          </p:nvSpPr>
          <p:spPr>
            <a:xfrm>
              <a:off x="489108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35355"/>
                  </a:lnTo>
                  <a:lnTo>
                    <a:pt x="0" y="938987"/>
                  </a:lnTo>
                  <a:lnTo>
                    <a:pt x="18745" y="976985"/>
                  </a:lnTo>
                  <a:lnTo>
                    <a:pt x="51612" y="990600"/>
                  </a:lnTo>
                  <a:lnTo>
                    <a:pt x="5882462" y="990600"/>
                  </a:lnTo>
                  <a:lnTo>
                    <a:pt x="5920460" y="971854"/>
                  </a:lnTo>
                  <a:lnTo>
                    <a:pt x="5934075" y="93898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108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0" y="9353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35355"/>
                  </a:lnTo>
                  <a:lnTo>
                    <a:pt x="5934075" y="938987"/>
                  </a:lnTo>
                  <a:lnTo>
                    <a:pt x="5933719" y="942568"/>
                  </a:lnTo>
                  <a:lnTo>
                    <a:pt x="5933008" y="946137"/>
                  </a:lnTo>
                  <a:lnTo>
                    <a:pt x="5932309" y="949693"/>
                  </a:lnTo>
                  <a:lnTo>
                    <a:pt x="5917895" y="974420"/>
                  </a:lnTo>
                  <a:lnTo>
                    <a:pt x="5915329" y="976985"/>
                  </a:lnTo>
                  <a:lnTo>
                    <a:pt x="5889599" y="989533"/>
                  </a:lnTo>
                  <a:lnTo>
                    <a:pt x="5886043" y="990244"/>
                  </a:lnTo>
                  <a:lnTo>
                    <a:pt x="5882462" y="990600"/>
                  </a:lnTo>
                  <a:lnTo>
                    <a:pt x="5878830" y="990600"/>
                  </a:lnTo>
                  <a:lnTo>
                    <a:pt x="55245" y="990600"/>
                  </a:lnTo>
                  <a:lnTo>
                    <a:pt x="51612" y="990600"/>
                  </a:lnTo>
                  <a:lnTo>
                    <a:pt x="48018" y="990244"/>
                  </a:lnTo>
                  <a:lnTo>
                    <a:pt x="44462" y="989533"/>
                  </a:lnTo>
                  <a:lnTo>
                    <a:pt x="40906" y="988834"/>
                  </a:lnTo>
                  <a:lnTo>
                    <a:pt x="9309" y="966038"/>
                  </a:lnTo>
                  <a:lnTo>
                    <a:pt x="7289" y="963028"/>
                  </a:lnTo>
                  <a:lnTo>
                    <a:pt x="1066" y="946137"/>
                  </a:lnTo>
                  <a:lnTo>
                    <a:pt x="355" y="942568"/>
                  </a:lnTo>
                  <a:lnTo>
                    <a:pt x="0" y="938987"/>
                  </a:lnTo>
                  <a:lnTo>
                    <a:pt x="0" y="935355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886325" y="4876800"/>
            <a:ext cx="5943600" cy="1009650"/>
            <a:chOff x="4886325" y="4876800"/>
            <a:chExt cx="5943600" cy="1009650"/>
          </a:xfrm>
        </p:grpSpPr>
        <p:sp>
          <p:nvSpPr>
            <p:cNvPr id="16" name="object 16"/>
            <p:cNvSpPr/>
            <p:nvPr/>
          </p:nvSpPr>
          <p:spPr>
            <a:xfrm>
              <a:off x="489108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1"/>
                  </a:lnTo>
                  <a:lnTo>
                    <a:pt x="0" y="948507"/>
                  </a:lnTo>
                  <a:lnTo>
                    <a:pt x="18745" y="986508"/>
                  </a:lnTo>
                  <a:lnTo>
                    <a:pt x="51612" y="1000126"/>
                  </a:lnTo>
                  <a:lnTo>
                    <a:pt x="5882462" y="1000126"/>
                  </a:lnTo>
                  <a:lnTo>
                    <a:pt x="5920460" y="981378"/>
                  </a:lnTo>
                  <a:lnTo>
                    <a:pt x="5934075" y="9485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9108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1"/>
                  </a:lnTo>
                  <a:lnTo>
                    <a:pt x="5934075" y="948507"/>
                  </a:lnTo>
                  <a:lnTo>
                    <a:pt x="5933719" y="952098"/>
                  </a:lnTo>
                  <a:lnTo>
                    <a:pt x="5933008" y="955655"/>
                  </a:lnTo>
                  <a:lnTo>
                    <a:pt x="5932309" y="959213"/>
                  </a:lnTo>
                  <a:lnTo>
                    <a:pt x="5909513" y="990814"/>
                  </a:lnTo>
                  <a:lnTo>
                    <a:pt x="5906503" y="992828"/>
                  </a:lnTo>
                  <a:lnTo>
                    <a:pt x="5903328" y="994530"/>
                  </a:lnTo>
                  <a:lnTo>
                    <a:pt x="5899962" y="995918"/>
                  </a:lnTo>
                  <a:lnTo>
                    <a:pt x="5896622" y="997308"/>
                  </a:lnTo>
                  <a:lnTo>
                    <a:pt x="5893168" y="998354"/>
                  </a:lnTo>
                  <a:lnTo>
                    <a:pt x="5889599" y="999064"/>
                  </a:lnTo>
                  <a:lnTo>
                    <a:pt x="5886043" y="999769"/>
                  </a:lnTo>
                  <a:lnTo>
                    <a:pt x="5882462" y="1000126"/>
                  </a:lnTo>
                  <a:lnTo>
                    <a:pt x="5878830" y="1000126"/>
                  </a:lnTo>
                  <a:lnTo>
                    <a:pt x="55245" y="1000126"/>
                  </a:lnTo>
                  <a:lnTo>
                    <a:pt x="51612" y="1000126"/>
                  </a:lnTo>
                  <a:lnTo>
                    <a:pt x="48018" y="999769"/>
                  </a:lnTo>
                  <a:lnTo>
                    <a:pt x="44462" y="999064"/>
                  </a:lnTo>
                  <a:lnTo>
                    <a:pt x="40906" y="998354"/>
                  </a:lnTo>
                  <a:lnTo>
                    <a:pt x="37452" y="997308"/>
                  </a:lnTo>
                  <a:lnTo>
                    <a:pt x="34099" y="995918"/>
                  </a:lnTo>
                  <a:lnTo>
                    <a:pt x="30746" y="994530"/>
                  </a:lnTo>
                  <a:lnTo>
                    <a:pt x="4203" y="966019"/>
                  </a:lnTo>
                  <a:lnTo>
                    <a:pt x="1066" y="955655"/>
                  </a:lnTo>
                  <a:lnTo>
                    <a:pt x="355" y="952098"/>
                  </a:lnTo>
                  <a:lnTo>
                    <a:pt x="0" y="948507"/>
                  </a:lnTo>
                  <a:lnTo>
                    <a:pt x="0" y="944881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21897" y="3871277"/>
            <a:ext cx="3594100" cy="182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Accuracy</a:t>
            </a:r>
            <a:r>
              <a:rPr sz="1650" spc="10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Deficit</a:t>
            </a:r>
            <a:endParaRPr sz="16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Existing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models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lack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explainability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precision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3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Automation</a:t>
            </a:r>
            <a:r>
              <a:rPr sz="1650" spc="17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20" dirty="0">
                <a:solidFill>
                  <a:srgbClr val="262424"/>
                </a:solidFill>
                <a:latin typeface="Georgia"/>
                <a:cs typeface="Georgia"/>
              </a:rPr>
              <a:t>Need</a:t>
            </a:r>
            <a:endParaRPr sz="16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Intelligent,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scalable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solution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required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4837" y="481012"/>
            <a:ext cx="1562100" cy="333375"/>
          </a:xfrm>
          <a:custGeom>
            <a:avLst/>
            <a:gdLst/>
            <a:ahLst/>
            <a:cxnLst/>
            <a:rect l="l" t="t" r="r" b="b"/>
            <a:pathLst>
              <a:path w="1562100" h="333375">
                <a:moveTo>
                  <a:pt x="0" y="290131"/>
                </a:moveTo>
                <a:lnTo>
                  <a:pt x="0" y="43243"/>
                </a:lnTo>
                <a:lnTo>
                  <a:pt x="0" y="37515"/>
                </a:lnTo>
                <a:lnTo>
                  <a:pt x="1096" y="31991"/>
                </a:lnTo>
                <a:lnTo>
                  <a:pt x="3294" y="26695"/>
                </a:lnTo>
                <a:lnTo>
                  <a:pt x="5486" y="21399"/>
                </a:lnTo>
                <a:lnTo>
                  <a:pt x="8611" y="16713"/>
                </a:lnTo>
                <a:lnTo>
                  <a:pt x="12665" y="12661"/>
                </a:lnTo>
                <a:lnTo>
                  <a:pt x="16718" y="8610"/>
                </a:lnTo>
                <a:lnTo>
                  <a:pt x="21396" y="5486"/>
                </a:lnTo>
                <a:lnTo>
                  <a:pt x="26695" y="3289"/>
                </a:lnTo>
                <a:lnTo>
                  <a:pt x="31992" y="1092"/>
                </a:lnTo>
                <a:lnTo>
                  <a:pt x="37509" y="0"/>
                </a:lnTo>
                <a:lnTo>
                  <a:pt x="43244" y="0"/>
                </a:lnTo>
                <a:lnTo>
                  <a:pt x="1518856" y="0"/>
                </a:lnTo>
                <a:lnTo>
                  <a:pt x="1524584" y="0"/>
                </a:lnTo>
                <a:lnTo>
                  <a:pt x="1530108" y="1092"/>
                </a:lnTo>
                <a:lnTo>
                  <a:pt x="1535404" y="3289"/>
                </a:lnTo>
                <a:lnTo>
                  <a:pt x="1540700" y="5486"/>
                </a:lnTo>
                <a:lnTo>
                  <a:pt x="1545374" y="8610"/>
                </a:lnTo>
                <a:lnTo>
                  <a:pt x="1562100" y="37515"/>
                </a:lnTo>
                <a:lnTo>
                  <a:pt x="1562100" y="43243"/>
                </a:lnTo>
                <a:lnTo>
                  <a:pt x="1562100" y="290131"/>
                </a:lnTo>
                <a:lnTo>
                  <a:pt x="1562100" y="295871"/>
                </a:lnTo>
                <a:lnTo>
                  <a:pt x="1561007" y="301383"/>
                </a:lnTo>
                <a:lnTo>
                  <a:pt x="1558810" y="306679"/>
                </a:lnTo>
                <a:lnTo>
                  <a:pt x="1556613" y="311975"/>
                </a:lnTo>
                <a:lnTo>
                  <a:pt x="1524584" y="333375"/>
                </a:lnTo>
                <a:lnTo>
                  <a:pt x="1518856" y="333375"/>
                </a:lnTo>
                <a:lnTo>
                  <a:pt x="43244" y="333375"/>
                </a:lnTo>
                <a:lnTo>
                  <a:pt x="37509" y="333375"/>
                </a:lnTo>
                <a:lnTo>
                  <a:pt x="31992" y="332270"/>
                </a:lnTo>
                <a:lnTo>
                  <a:pt x="3294" y="306679"/>
                </a:lnTo>
                <a:lnTo>
                  <a:pt x="1096" y="301383"/>
                </a:lnTo>
                <a:lnTo>
                  <a:pt x="0" y="295871"/>
                </a:lnTo>
                <a:lnTo>
                  <a:pt x="0" y="290131"/>
                </a:lnTo>
                <a:close/>
              </a:path>
            </a:pathLst>
          </a:custGeom>
          <a:ln w="9525">
            <a:solidFill>
              <a:srgbClr val="E5E5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9740" y="545465"/>
            <a:ext cx="13690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" dirty="0">
                <a:solidFill>
                  <a:srgbClr val="E5E5E0"/>
                </a:solidFill>
                <a:latin typeface="Tahoma"/>
                <a:cs typeface="Tahoma"/>
              </a:rPr>
              <a:t>LITERATURE</a:t>
            </a:r>
            <a:r>
              <a:rPr sz="1050" spc="40" dirty="0">
                <a:solidFill>
                  <a:srgbClr val="E5E5E0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E5E5E0"/>
                </a:solidFill>
                <a:latin typeface="Tahoma"/>
                <a:cs typeface="Tahoma"/>
              </a:rPr>
              <a:t>REVIEW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6947" y="835025"/>
            <a:ext cx="541909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Prior</a:t>
            </a:r>
            <a:r>
              <a:rPr spc="-10" dirty="0"/>
              <a:t> </a:t>
            </a:r>
            <a:r>
              <a:rPr dirty="0"/>
              <a:t>Research</a:t>
            </a:r>
            <a:r>
              <a:rPr spc="-10" dirty="0"/>
              <a:t> Missed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000250"/>
            <a:ext cx="6505574" cy="36385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515225" y="1866899"/>
            <a:ext cx="3324225" cy="1095375"/>
            <a:chOff x="7515225" y="1866899"/>
            <a:chExt cx="3324225" cy="1095375"/>
          </a:xfrm>
        </p:grpSpPr>
        <p:sp>
          <p:nvSpPr>
            <p:cNvPr id="7" name="object 7"/>
            <p:cNvSpPr/>
            <p:nvPr/>
          </p:nvSpPr>
          <p:spPr>
            <a:xfrm>
              <a:off x="7535113" y="1866912"/>
              <a:ext cx="3304540" cy="1095375"/>
            </a:xfrm>
            <a:custGeom>
              <a:avLst/>
              <a:gdLst/>
              <a:ahLst/>
              <a:cxnLst/>
              <a:rect l="l" t="t" r="r" b="b"/>
              <a:pathLst>
                <a:path w="3304540" h="1095375">
                  <a:moveTo>
                    <a:pt x="3304286" y="51828"/>
                  </a:moveTo>
                  <a:lnTo>
                    <a:pt x="3302800" y="44399"/>
                  </a:lnTo>
                  <a:lnTo>
                    <a:pt x="3296704" y="29692"/>
                  </a:lnTo>
                  <a:lnTo>
                    <a:pt x="3292373" y="23202"/>
                  </a:lnTo>
                  <a:lnTo>
                    <a:pt x="3287217" y="18059"/>
                  </a:lnTo>
                  <a:lnTo>
                    <a:pt x="3286976" y="17805"/>
                  </a:lnTo>
                  <a:lnTo>
                    <a:pt x="3286760" y="17576"/>
                  </a:lnTo>
                  <a:lnTo>
                    <a:pt x="3281121" y="11950"/>
                  </a:lnTo>
                  <a:lnTo>
                    <a:pt x="3274631" y="7607"/>
                  </a:lnTo>
                  <a:lnTo>
                    <a:pt x="3260052" y="1562"/>
                  </a:lnTo>
                  <a:lnTo>
                    <a:pt x="3260179" y="1562"/>
                  </a:lnTo>
                  <a:lnTo>
                    <a:pt x="32522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44316" y="19050"/>
                  </a:lnTo>
                  <a:lnTo>
                    <a:pt x="3273526" y="31356"/>
                  </a:lnTo>
                  <a:lnTo>
                    <a:pt x="3278530" y="37350"/>
                  </a:lnTo>
                  <a:lnTo>
                    <a:pt x="3282315" y="44399"/>
                  </a:lnTo>
                  <a:lnTo>
                    <a:pt x="3284524" y="51828"/>
                  </a:lnTo>
                  <a:lnTo>
                    <a:pt x="3285274" y="60007"/>
                  </a:lnTo>
                  <a:lnTo>
                    <a:pt x="3285274" y="1035367"/>
                  </a:lnTo>
                  <a:lnTo>
                    <a:pt x="3273717" y="1063802"/>
                  </a:lnTo>
                  <a:lnTo>
                    <a:pt x="3273285" y="1064323"/>
                  </a:lnTo>
                  <a:lnTo>
                    <a:pt x="3244316" y="1076325"/>
                  </a:lnTo>
                  <a:lnTo>
                    <a:pt x="75349" y="1076325"/>
                  </a:lnTo>
                  <a:lnTo>
                    <a:pt x="33007" y="1066698"/>
                  </a:lnTo>
                  <a:lnTo>
                    <a:pt x="1079" y="1034046"/>
                  </a:lnTo>
                  <a:lnTo>
                    <a:pt x="0" y="1029944"/>
                  </a:lnTo>
                  <a:lnTo>
                    <a:pt x="609" y="1034046"/>
                  </a:lnTo>
                  <a:lnTo>
                    <a:pt x="2413" y="1041247"/>
                  </a:lnTo>
                  <a:lnTo>
                    <a:pt x="4851" y="1048042"/>
                  </a:lnTo>
                  <a:lnTo>
                    <a:pt x="4953" y="1048334"/>
                  </a:lnTo>
                  <a:lnTo>
                    <a:pt x="33007" y="1082535"/>
                  </a:lnTo>
                  <a:lnTo>
                    <a:pt x="75349" y="1095375"/>
                  </a:lnTo>
                  <a:lnTo>
                    <a:pt x="3252279" y="1095375"/>
                  </a:lnTo>
                  <a:lnTo>
                    <a:pt x="3259556" y="1093914"/>
                  </a:lnTo>
                  <a:lnTo>
                    <a:pt x="3259747" y="1093914"/>
                  </a:lnTo>
                  <a:lnTo>
                    <a:pt x="3274631" y="1087755"/>
                  </a:lnTo>
                  <a:lnTo>
                    <a:pt x="3281121" y="1083424"/>
                  </a:lnTo>
                  <a:lnTo>
                    <a:pt x="3286747" y="1077798"/>
                  </a:lnTo>
                  <a:lnTo>
                    <a:pt x="3287230" y="1077315"/>
                  </a:lnTo>
                  <a:lnTo>
                    <a:pt x="3292373" y="1072172"/>
                  </a:lnTo>
                  <a:lnTo>
                    <a:pt x="3296704" y="1065682"/>
                  </a:lnTo>
                  <a:lnTo>
                    <a:pt x="3302762" y="1051077"/>
                  </a:lnTo>
                  <a:lnTo>
                    <a:pt x="3304286" y="1043533"/>
                  </a:lnTo>
                  <a:lnTo>
                    <a:pt x="3304286" y="51828"/>
                  </a:lnTo>
                  <a:close/>
                </a:path>
              </a:pathLst>
            </a:custGeom>
            <a:solidFill>
              <a:srgbClr val="CECE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15225" y="1866899"/>
              <a:ext cx="76200" cy="1095375"/>
            </a:xfrm>
            <a:custGeom>
              <a:avLst/>
              <a:gdLst/>
              <a:ahLst/>
              <a:cxnLst/>
              <a:rect l="l" t="t" r="r" b="b"/>
              <a:pathLst>
                <a:path w="76200" h="109537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035367"/>
                  </a:lnTo>
                  <a:lnTo>
                    <a:pt x="0" y="1039304"/>
                  </a:lnTo>
                  <a:lnTo>
                    <a:pt x="14782" y="1075016"/>
                  </a:lnTo>
                  <a:lnTo>
                    <a:pt x="52158" y="1094994"/>
                  </a:lnTo>
                  <a:lnTo>
                    <a:pt x="56070" y="1095375"/>
                  </a:lnTo>
                  <a:lnTo>
                    <a:pt x="76200" y="10953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65656" y="2020887"/>
            <a:ext cx="2880995" cy="721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ML</a:t>
            </a:r>
            <a:r>
              <a:rPr sz="1650" spc="5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Models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Naive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Bayes,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SVM,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Logistic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Regression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15225" y="3133724"/>
            <a:ext cx="3324225" cy="1095375"/>
            <a:chOff x="7515225" y="3133724"/>
            <a:chExt cx="3324225" cy="1095375"/>
          </a:xfrm>
        </p:grpSpPr>
        <p:sp>
          <p:nvSpPr>
            <p:cNvPr id="11" name="object 11"/>
            <p:cNvSpPr/>
            <p:nvPr/>
          </p:nvSpPr>
          <p:spPr>
            <a:xfrm>
              <a:off x="7535113" y="3133737"/>
              <a:ext cx="3304540" cy="1095375"/>
            </a:xfrm>
            <a:custGeom>
              <a:avLst/>
              <a:gdLst/>
              <a:ahLst/>
              <a:cxnLst/>
              <a:rect l="l" t="t" r="r" b="b"/>
              <a:pathLst>
                <a:path w="3304540" h="1095375">
                  <a:moveTo>
                    <a:pt x="3304286" y="51828"/>
                  </a:moveTo>
                  <a:lnTo>
                    <a:pt x="3302800" y="44399"/>
                  </a:lnTo>
                  <a:lnTo>
                    <a:pt x="3296704" y="29692"/>
                  </a:lnTo>
                  <a:lnTo>
                    <a:pt x="3292373" y="23202"/>
                  </a:lnTo>
                  <a:lnTo>
                    <a:pt x="3287217" y="18059"/>
                  </a:lnTo>
                  <a:lnTo>
                    <a:pt x="3286976" y="17805"/>
                  </a:lnTo>
                  <a:lnTo>
                    <a:pt x="3286760" y="17576"/>
                  </a:lnTo>
                  <a:lnTo>
                    <a:pt x="3281121" y="11950"/>
                  </a:lnTo>
                  <a:lnTo>
                    <a:pt x="3274631" y="7607"/>
                  </a:lnTo>
                  <a:lnTo>
                    <a:pt x="3260052" y="1562"/>
                  </a:lnTo>
                  <a:lnTo>
                    <a:pt x="3260179" y="1562"/>
                  </a:lnTo>
                  <a:lnTo>
                    <a:pt x="32522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44316" y="19050"/>
                  </a:lnTo>
                  <a:lnTo>
                    <a:pt x="3273526" y="31356"/>
                  </a:lnTo>
                  <a:lnTo>
                    <a:pt x="3278530" y="37350"/>
                  </a:lnTo>
                  <a:lnTo>
                    <a:pt x="3282315" y="44399"/>
                  </a:lnTo>
                  <a:lnTo>
                    <a:pt x="3284524" y="51828"/>
                  </a:lnTo>
                  <a:lnTo>
                    <a:pt x="3285274" y="60007"/>
                  </a:lnTo>
                  <a:lnTo>
                    <a:pt x="3285274" y="1035367"/>
                  </a:lnTo>
                  <a:lnTo>
                    <a:pt x="3266973" y="1069568"/>
                  </a:lnTo>
                  <a:lnTo>
                    <a:pt x="3244316" y="1076325"/>
                  </a:lnTo>
                  <a:lnTo>
                    <a:pt x="75349" y="1076325"/>
                  </a:lnTo>
                  <a:lnTo>
                    <a:pt x="33007" y="1066698"/>
                  </a:lnTo>
                  <a:lnTo>
                    <a:pt x="1079" y="1034046"/>
                  </a:lnTo>
                  <a:lnTo>
                    <a:pt x="0" y="1029931"/>
                  </a:lnTo>
                  <a:lnTo>
                    <a:pt x="609" y="1034046"/>
                  </a:lnTo>
                  <a:lnTo>
                    <a:pt x="2413" y="1041260"/>
                  </a:lnTo>
                  <a:lnTo>
                    <a:pt x="4851" y="1048042"/>
                  </a:lnTo>
                  <a:lnTo>
                    <a:pt x="4953" y="1048334"/>
                  </a:lnTo>
                  <a:lnTo>
                    <a:pt x="33007" y="1082535"/>
                  </a:lnTo>
                  <a:lnTo>
                    <a:pt x="75349" y="1095375"/>
                  </a:lnTo>
                  <a:lnTo>
                    <a:pt x="3252279" y="1095375"/>
                  </a:lnTo>
                  <a:lnTo>
                    <a:pt x="3259556" y="1093914"/>
                  </a:lnTo>
                  <a:lnTo>
                    <a:pt x="3259747" y="1093914"/>
                  </a:lnTo>
                  <a:lnTo>
                    <a:pt x="3274631" y="1087755"/>
                  </a:lnTo>
                  <a:lnTo>
                    <a:pt x="3281121" y="1083424"/>
                  </a:lnTo>
                  <a:lnTo>
                    <a:pt x="3286747" y="1077798"/>
                  </a:lnTo>
                  <a:lnTo>
                    <a:pt x="3287230" y="1077315"/>
                  </a:lnTo>
                  <a:lnTo>
                    <a:pt x="3292373" y="1072172"/>
                  </a:lnTo>
                  <a:lnTo>
                    <a:pt x="3296704" y="1065682"/>
                  </a:lnTo>
                  <a:lnTo>
                    <a:pt x="3302762" y="1051077"/>
                  </a:lnTo>
                  <a:lnTo>
                    <a:pt x="3304286" y="1043533"/>
                  </a:lnTo>
                  <a:lnTo>
                    <a:pt x="3304286" y="51828"/>
                  </a:lnTo>
                  <a:close/>
                </a:path>
              </a:pathLst>
            </a:custGeom>
            <a:solidFill>
              <a:srgbClr val="CECE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15225" y="3133724"/>
              <a:ext cx="76200" cy="1095375"/>
            </a:xfrm>
            <a:custGeom>
              <a:avLst/>
              <a:gdLst/>
              <a:ahLst/>
              <a:cxnLst/>
              <a:rect l="l" t="t" r="r" b="b"/>
              <a:pathLst>
                <a:path w="76200" h="109537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035367"/>
                  </a:lnTo>
                  <a:lnTo>
                    <a:pt x="0" y="1039304"/>
                  </a:lnTo>
                  <a:lnTo>
                    <a:pt x="14782" y="1075016"/>
                  </a:lnTo>
                  <a:lnTo>
                    <a:pt x="52158" y="1094994"/>
                  </a:lnTo>
                  <a:lnTo>
                    <a:pt x="56070" y="1095375"/>
                  </a:lnTo>
                  <a:lnTo>
                    <a:pt x="76200" y="10953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65656" y="3287712"/>
            <a:ext cx="2673985" cy="721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NLP</a:t>
            </a:r>
            <a:r>
              <a:rPr sz="1650" spc="7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Approaches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TF-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IDF,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Word2Vec,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LSTM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networks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15225" y="4400550"/>
            <a:ext cx="3324225" cy="1371600"/>
            <a:chOff x="7515225" y="4400550"/>
            <a:chExt cx="3324225" cy="1371600"/>
          </a:xfrm>
        </p:grpSpPr>
        <p:sp>
          <p:nvSpPr>
            <p:cNvPr id="15" name="object 15"/>
            <p:cNvSpPr/>
            <p:nvPr/>
          </p:nvSpPr>
          <p:spPr>
            <a:xfrm>
              <a:off x="7535113" y="4400562"/>
              <a:ext cx="3304540" cy="1371600"/>
            </a:xfrm>
            <a:custGeom>
              <a:avLst/>
              <a:gdLst/>
              <a:ahLst/>
              <a:cxnLst/>
              <a:rect l="l" t="t" r="r" b="b"/>
              <a:pathLst>
                <a:path w="3304540" h="1371600">
                  <a:moveTo>
                    <a:pt x="3304286" y="51828"/>
                  </a:moveTo>
                  <a:lnTo>
                    <a:pt x="3302800" y="44399"/>
                  </a:lnTo>
                  <a:lnTo>
                    <a:pt x="3296704" y="29692"/>
                  </a:lnTo>
                  <a:lnTo>
                    <a:pt x="3292373" y="23202"/>
                  </a:lnTo>
                  <a:lnTo>
                    <a:pt x="3287217" y="18059"/>
                  </a:lnTo>
                  <a:lnTo>
                    <a:pt x="3286976" y="17805"/>
                  </a:lnTo>
                  <a:lnTo>
                    <a:pt x="3286760" y="17576"/>
                  </a:lnTo>
                  <a:lnTo>
                    <a:pt x="3281121" y="11950"/>
                  </a:lnTo>
                  <a:lnTo>
                    <a:pt x="3274631" y="7607"/>
                  </a:lnTo>
                  <a:lnTo>
                    <a:pt x="3260052" y="1562"/>
                  </a:lnTo>
                  <a:lnTo>
                    <a:pt x="3260179" y="1562"/>
                  </a:lnTo>
                  <a:lnTo>
                    <a:pt x="32522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3244316" y="19050"/>
                  </a:lnTo>
                  <a:lnTo>
                    <a:pt x="3273526" y="31356"/>
                  </a:lnTo>
                  <a:lnTo>
                    <a:pt x="3278530" y="37350"/>
                  </a:lnTo>
                  <a:lnTo>
                    <a:pt x="3282315" y="44399"/>
                  </a:lnTo>
                  <a:lnTo>
                    <a:pt x="3284524" y="51828"/>
                  </a:lnTo>
                  <a:lnTo>
                    <a:pt x="3285274" y="60007"/>
                  </a:lnTo>
                  <a:lnTo>
                    <a:pt x="3285274" y="1311592"/>
                  </a:lnTo>
                  <a:lnTo>
                    <a:pt x="3273348" y="1340459"/>
                  </a:lnTo>
                  <a:lnTo>
                    <a:pt x="3244316" y="1352550"/>
                  </a:lnTo>
                  <a:lnTo>
                    <a:pt x="75349" y="1352550"/>
                  </a:lnTo>
                  <a:lnTo>
                    <a:pt x="33007" y="1342923"/>
                  </a:lnTo>
                  <a:lnTo>
                    <a:pt x="1079" y="1310259"/>
                  </a:lnTo>
                  <a:lnTo>
                    <a:pt x="0" y="1306156"/>
                  </a:lnTo>
                  <a:lnTo>
                    <a:pt x="609" y="1310259"/>
                  </a:lnTo>
                  <a:lnTo>
                    <a:pt x="2413" y="1317485"/>
                  </a:lnTo>
                  <a:lnTo>
                    <a:pt x="4851" y="1324267"/>
                  </a:lnTo>
                  <a:lnTo>
                    <a:pt x="4953" y="1324559"/>
                  </a:lnTo>
                  <a:lnTo>
                    <a:pt x="33007" y="1358760"/>
                  </a:lnTo>
                  <a:lnTo>
                    <a:pt x="75349" y="1371600"/>
                  </a:lnTo>
                  <a:lnTo>
                    <a:pt x="3252279" y="1371600"/>
                  </a:lnTo>
                  <a:lnTo>
                    <a:pt x="3259569" y="1370139"/>
                  </a:lnTo>
                  <a:lnTo>
                    <a:pt x="3259759" y="1370139"/>
                  </a:lnTo>
                  <a:lnTo>
                    <a:pt x="3274631" y="1363980"/>
                  </a:lnTo>
                  <a:lnTo>
                    <a:pt x="3281121" y="1359649"/>
                  </a:lnTo>
                  <a:lnTo>
                    <a:pt x="3287230" y="1353540"/>
                  </a:lnTo>
                  <a:lnTo>
                    <a:pt x="3292373" y="1348384"/>
                  </a:lnTo>
                  <a:lnTo>
                    <a:pt x="3296704" y="1341894"/>
                  </a:lnTo>
                  <a:lnTo>
                    <a:pt x="3302762" y="1327302"/>
                  </a:lnTo>
                  <a:lnTo>
                    <a:pt x="3304286" y="1319758"/>
                  </a:lnTo>
                  <a:lnTo>
                    <a:pt x="3304286" y="51828"/>
                  </a:lnTo>
                  <a:close/>
                </a:path>
              </a:pathLst>
            </a:custGeom>
            <a:solidFill>
              <a:srgbClr val="CECE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15225" y="440055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311593"/>
                  </a:lnTo>
                  <a:lnTo>
                    <a:pt x="0" y="1315532"/>
                  </a:lnTo>
                  <a:lnTo>
                    <a:pt x="14782" y="1351236"/>
                  </a:lnTo>
                  <a:lnTo>
                    <a:pt x="52158" y="1371213"/>
                  </a:lnTo>
                  <a:lnTo>
                    <a:pt x="76200" y="13716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65656" y="4554537"/>
            <a:ext cx="2684145" cy="9982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Key</a:t>
            </a:r>
            <a:r>
              <a:rPr sz="1650" spc="5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20" dirty="0">
                <a:solidFill>
                  <a:srgbClr val="262424"/>
                </a:solidFill>
                <a:latin typeface="Georgia"/>
                <a:cs typeface="Georgia"/>
              </a:rPr>
              <a:t>Gaps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1290"/>
              </a:spcBef>
            </a:pP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No</a:t>
            </a:r>
            <a:r>
              <a:rPr sz="1350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real-time</a:t>
            </a:r>
            <a:r>
              <a:rPr sz="1350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processing</a:t>
            </a:r>
            <a:r>
              <a:rPr sz="1350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·</a:t>
            </a:r>
            <a:r>
              <a:rPr sz="1350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No</a:t>
            </a:r>
            <a:r>
              <a:rPr sz="1350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source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verification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·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Low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accuracy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5184" y="425619"/>
            <a:ext cx="1214120" cy="295275"/>
          </a:xfrm>
          <a:custGeom>
            <a:avLst/>
            <a:gdLst/>
            <a:ahLst/>
            <a:cxnLst/>
            <a:rect l="l" t="t" r="r" b="b"/>
            <a:pathLst>
              <a:path w="1214120" h="295275">
                <a:moveTo>
                  <a:pt x="0" y="256720"/>
                </a:moveTo>
                <a:lnTo>
                  <a:pt x="0" y="38263"/>
                </a:lnTo>
                <a:lnTo>
                  <a:pt x="0" y="33195"/>
                </a:lnTo>
                <a:lnTo>
                  <a:pt x="969" y="28307"/>
                </a:lnTo>
                <a:lnTo>
                  <a:pt x="2915" y="23621"/>
                </a:lnTo>
                <a:lnTo>
                  <a:pt x="4854" y="18935"/>
                </a:lnTo>
                <a:lnTo>
                  <a:pt x="7620" y="14788"/>
                </a:lnTo>
                <a:lnTo>
                  <a:pt x="11207" y="11203"/>
                </a:lnTo>
                <a:lnTo>
                  <a:pt x="14793" y="7619"/>
                </a:lnTo>
                <a:lnTo>
                  <a:pt x="18932" y="4854"/>
                </a:lnTo>
                <a:lnTo>
                  <a:pt x="23621" y="2910"/>
                </a:lnTo>
                <a:lnTo>
                  <a:pt x="28308" y="966"/>
                </a:lnTo>
                <a:lnTo>
                  <a:pt x="33189" y="0"/>
                </a:lnTo>
                <a:lnTo>
                  <a:pt x="38264" y="0"/>
                </a:lnTo>
                <a:lnTo>
                  <a:pt x="1175384" y="0"/>
                </a:lnTo>
                <a:lnTo>
                  <a:pt x="1180452" y="0"/>
                </a:lnTo>
                <a:lnTo>
                  <a:pt x="1185340" y="966"/>
                </a:lnTo>
                <a:lnTo>
                  <a:pt x="1190026" y="2910"/>
                </a:lnTo>
                <a:lnTo>
                  <a:pt x="1194712" y="4854"/>
                </a:lnTo>
                <a:lnTo>
                  <a:pt x="1198859" y="7619"/>
                </a:lnTo>
                <a:lnTo>
                  <a:pt x="1202443" y="11203"/>
                </a:lnTo>
                <a:lnTo>
                  <a:pt x="1206028" y="14788"/>
                </a:lnTo>
                <a:lnTo>
                  <a:pt x="1208793" y="18935"/>
                </a:lnTo>
                <a:lnTo>
                  <a:pt x="1210737" y="23621"/>
                </a:lnTo>
                <a:lnTo>
                  <a:pt x="1212681" y="28307"/>
                </a:lnTo>
                <a:lnTo>
                  <a:pt x="1213647" y="33195"/>
                </a:lnTo>
                <a:lnTo>
                  <a:pt x="1213647" y="38263"/>
                </a:lnTo>
                <a:lnTo>
                  <a:pt x="1213647" y="256720"/>
                </a:lnTo>
                <a:lnTo>
                  <a:pt x="1213647" y="261799"/>
                </a:lnTo>
                <a:lnTo>
                  <a:pt x="1212681" y="266676"/>
                </a:lnTo>
                <a:lnTo>
                  <a:pt x="1210737" y="271362"/>
                </a:lnTo>
                <a:lnTo>
                  <a:pt x="1208793" y="276048"/>
                </a:lnTo>
                <a:lnTo>
                  <a:pt x="1206028" y="280184"/>
                </a:lnTo>
                <a:lnTo>
                  <a:pt x="1180452" y="294983"/>
                </a:lnTo>
                <a:lnTo>
                  <a:pt x="1175384" y="294983"/>
                </a:lnTo>
                <a:lnTo>
                  <a:pt x="38264" y="294983"/>
                </a:lnTo>
                <a:lnTo>
                  <a:pt x="33189" y="294983"/>
                </a:lnTo>
                <a:lnTo>
                  <a:pt x="28308" y="294006"/>
                </a:lnTo>
                <a:lnTo>
                  <a:pt x="2915" y="271362"/>
                </a:lnTo>
                <a:lnTo>
                  <a:pt x="969" y="266676"/>
                </a:lnTo>
                <a:lnTo>
                  <a:pt x="0" y="261799"/>
                </a:lnTo>
                <a:lnTo>
                  <a:pt x="0" y="256720"/>
                </a:lnTo>
                <a:close/>
              </a:path>
            </a:pathLst>
          </a:custGeom>
          <a:ln w="8428">
            <a:solidFill>
              <a:srgbClr val="E5E5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7696" y="481187"/>
            <a:ext cx="104711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E5E5E0"/>
                </a:solidFill>
                <a:latin typeface="Tahoma"/>
                <a:cs typeface="Tahoma"/>
              </a:rPr>
              <a:t>EXISTING</a:t>
            </a:r>
            <a:r>
              <a:rPr sz="950" spc="-60" dirty="0">
                <a:solidFill>
                  <a:srgbClr val="E5E5E0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E5E5E0"/>
                </a:solidFill>
                <a:latin typeface="Tahoma"/>
                <a:cs typeface="Tahoma"/>
              </a:rPr>
              <a:t>SYSTEM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4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/>
              <a:t>Limitations</a:t>
            </a:r>
            <a:r>
              <a:rPr sz="2950" spc="70" dirty="0"/>
              <a:t> </a:t>
            </a:r>
            <a:r>
              <a:rPr sz="2950" dirty="0"/>
              <a:t>of</a:t>
            </a:r>
            <a:r>
              <a:rPr sz="2950" spc="75" dirty="0"/>
              <a:t> </a:t>
            </a:r>
            <a:r>
              <a:rPr sz="2950" dirty="0"/>
              <a:t>Traditional</a:t>
            </a:r>
            <a:r>
              <a:rPr sz="2950" spc="75" dirty="0"/>
              <a:t> </a:t>
            </a:r>
            <a:r>
              <a:rPr sz="2950" spc="-10" dirty="0"/>
              <a:t>Approaches</a:t>
            </a:r>
            <a:endParaRPr sz="29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970" y="1651909"/>
            <a:ext cx="5756398" cy="41971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7203" y="2398527"/>
            <a:ext cx="228345" cy="1965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43821" y="2342956"/>
            <a:ext cx="2435225" cy="2757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dirty="0">
                <a:solidFill>
                  <a:srgbClr val="262424"/>
                </a:solidFill>
                <a:latin typeface="Georgia"/>
                <a:cs typeface="Georgia"/>
              </a:rPr>
              <a:t>Naive</a:t>
            </a:r>
            <a:r>
              <a:rPr sz="1500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62424"/>
                </a:solidFill>
                <a:latin typeface="Georgia"/>
                <a:cs typeface="Georgia"/>
              </a:rPr>
              <a:t>Bayes</a:t>
            </a:r>
            <a:r>
              <a:rPr sz="1500" spc="-3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62424"/>
                </a:solidFill>
                <a:latin typeface="Georgia"/>
                <a:cs typeface="Georgia"/>
              </a:rPr>
              <a:t>&amp;</a:t>
            </a:r>
            <a:r>
              <a:rPr sz="1500" spc="-3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500" spc="-25" dirty="0">
                <a:solidFill>
                  <a:srgbClr val="262424"/>
                </a:solidFill>
                <a:latin typeface="Georgia"/>
                <a:cs typeface="Georgia"/>
              </a:rPr>
              <a:t>SVM</a:t>
            </a:r>
            <a:endParaRPr sz="1500">
              <a:latin typeface="Georgia"/>
              <a:cs typeface="Georgia"/>
            </a:endParaRPr>
          </a:p>
          <a:p>
            <a:pPr marL="12700" marR="432434">
              <a:lnSpc>
                <a:spcPct val="133600"/>
              </a:lnSpc>
              <a:spcBef>
                <a:spcPts val="1135"/>
              </a:spcBef>
            </a:pPr>
            <a:r>
              <a:rPr sz="1200" dirty="0">
                <a:solidFill>
                  <a:srgbClr val="262424"/>
                </a:solidFill>
                <a:latin typeface="Tahoma"/>
                <a:cs typeface="Tahoma"/>
              </a:rPr>
              <a:t>Shallow</a:t>
            </a:r>
            <a:r>
              <a:rPr sz="120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62424"/>
                </a:solidFill>
                <a:latin typeface="Tahoma"/>
                <a:cs typeface="Tahoma"/>
              </a:rPr>
              <a:t>feature</a:t>
            </a:r>
            <a:r>
              <a:rPr sz="120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62424"/>
                </a:solidFill>
                <a:latin typeface="Tahoma"/>
                <a:cs typeface="Tahoma"/>
              </a:rPr>
              <a:t>extraction;</a:t>
            </a:r>
            <a:r>
              <a:rPr sz="120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62424"/>
                </a:solidFill>
                <a:latin typeface="Tahoma"/>
                <a:cs typeface="Tahoma"/>
              </a:rPr>
              <a:t>no </a:t>
            </a:r>
            <a:r>
              <a:rPr sz="1200" spc="-10" dirty="0">
                <a:solidFill>
                  <a:srgbClr val="262424"/>
                </a:solidFill>
                <a:latin typeface="Tahoma"/>
                <a:cs typeface="Tahoma"/>
              </a:rPr>
              <a:t>semantic</a:t>
            </a:r>
            <a:r>
              <a:rPr sz="120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62424"/>
                </a:solidFill>
                <a:latin typeface="Tahoma"/>
                <a:cs typeface="Tahoma"/>
              </a:rPr>
              <a:t>depth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-10" dirty="0">
                <a:solidFill>
                  <a:srgbClr val="262424"/>
                </a:solidFill>
                <a:latin typeface="Georgia"/>
                <a:cs typeface="Georgia"/>
              </a:rPr>
              <a:t>Keyword</a:t>
            </a:r>
            <a:r>
              <a:rPr sz="1500" spc="-2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500" spc="-10" dirty="0">
                <a:solidFill>
                  <a:srgbClr val="262424"/>
                </a:solidFill>
                <a:latin typeface="Georgia"/>
                <a:cs typeface="Georgia"/>
              </a:rPr>
              <a:t>Matching</a:t>
            </a:r>
            <a:endParaRPr sz="1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200" dirty="0">
                <a:solidFill>
                  <a:srgbClr val="262424"/>
                </a:solidFill>
                <a:latin typeface="Tahoma"/>
                <a:cs typeface="Tahoma"/>
              </a:rPr>
              <a:t>Misses</a:t>
            </a:r>
            <a:r>
              <a:rPr sz="120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62424"/>
                </a:solidFill>
                <a:latin typeface="Tahoma"/>
                <a:cs typeface="Tahoma"/>
              </a:rPr>
              <a:t>context,</a:t>
            </a:r>
            <a:r>
              <a:rPr sz="120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62424"/>
                </a:solidFill>
                <a:latin typeface="Tahoma"/>
                <a:cs typeface="Tahoma"/>
              </a:rPr>
              <a:t>sarcasm,</a:t>
            </a:r>
            <a:r>
              <a:rPr sz="120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20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62424"/>
                </a:solidFill>
                <a:latin typeface="Tahoma"/>
                <a:cs typeface="Tahoma"/>
              </a:rPr>
              <a:t>nuance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262424"/>
                </a:solidFill>
                <a:latin typeface="Georgia"/>
                <a:cs typeface="Georgia"/>
              </a:rPr>
              <a:t>High</a:t>
            </a:r>
            <a:r>
              <a:rPr sz="1500" spc="-5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62424"/>
                </a:solidFill>
                <a:latin typeface="Georgia"/>
                <a:cs typeface="Georgia"/>
              </a:rPr>
              <a:t>False</a:t>
            </a:r>
            <a:r>
              <a:rPr sz="1500" spc="-5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500" spc="-10" dirty="0">
                <a:solidFill>
                  <a:srgbClr val="262424"/>
                </a:solidFill>
                <a:latin typeface="Georgia"/>
                <a:cs typeface="Georgia"/>
              </a:rPr>
              <a:t>Positives</a:t>
            </a:r>
            <a:endParaRPr sz="1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200" dirty="0">
                <a:solidFill>
                  <a:srgbClr val="262424"/>
                </a:solidFill>
                <a:latin typeface="Tahoma"/>
                <a:cs typeface="Tahoma"/>
              </a:rPr>
              <a:t>Poor</a:t>
            </a:r>
            <a:r>
              <a:rPr sz="120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62424"/>
                </a:solidFill>
                <a:latin typeface="Tahoma"/>
                <a:cs typeface="Tahoma"/>
              </a:rPr>
              <a:t>generalization</a:t>
            </a:r>
            <a:r>
              <a:rPr sz="120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62424"/>
                </a:solidFill>
                <a:latin typeface="Tahoma"/>
                <a:cs typeface="Tahoma"/>
              </a:rPr>
              <a:t>on</a:t>
            </a:r>
            <a:r>
              <a:rPr sz="120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62424"/>
                </a:solidFill>
                <a:latin typeface="Tahoma"/>
                <a:cs typeface="Tahoma"/>
              </a:rPr>
              <a:t>unseen</a:t>
            </a:r>
            <a:r>
              <a:rPr sz="120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7203" y="3578462"/>
            <a:ext cx="228345" cy="1965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7203" y="4513982"/>
            <a:ext cx="228345" cy="196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9239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196" y="425450"/>
            <a:ext cx="550735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Proposed</a:t>
            </a:r>
            <a:r>
              <a:rPr spc="-20" dirty="0"/>
              <a:t> </a:t>
            </a:r>
            <a:r>
              <a:rPr dirty="0"/>
              <a:t>System:</a:t>
            </a:r>
            <a:r>
              <a:rPr spc="-15" dirty="0"/>
              <a:t> </a:t>
            </a:r>
            <a:r>
              <a:rPr spc="-10" dirty="0"/>
              <a:t>TruthLens </a:t>
            </a:r>
            <a:r>
              <a:rPr spc="-25" dirty="0"/>
              <a:t>AI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1800224"/>
            <a:ext cx="5943600" cy="1695450"/>
            <a:chOff x="4886325" y="1800224"/>
            <a:chExt cx="5943600" cy="1695450"/>
          </a:xfrm>
        </p:grpSpPr>
        <p:sp>
          <p:nvSpPr>
            <p:cNvPr id="5" name="object 5"/>
            <p:cNvSpPr/>
            <p:nvPr/>
          </p:nvSpPr>
          <p:spPr>
            <a:xfrm>
              <a:off x="4891087" y="1804987"/>
              <a:ext cx="5934075" cy="1685925"/>
            </a:xfrm>
            <a:custGeom>
              <a:avLst/>
              <a:gdLst/>
              <a:ahLst/>
              <a:cxnLst/>
              <a:rect l="l" t="t" r="r" b="b"/>
              <a:pathLst>
                <a:path w="5934075" h="16859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630680"/>
                  </a:lnTo>
                  <a:lnTo>
                    <a:pt x="0" y="1634312"/>
                  </a:lnTo>
                  <a:lnTo>
                    <a:pt x="18745" y="1672310"/>
                  </a:lnTo>
                  <a:lnTo>
                    <a:pt x="51612" y="1685925"/>
                  </a:lnTo>
                  <a:lnTo>
                    <a:pt x="5882462" y="1685925"/>
                  </a:lnTo>
                  <a:lnTo>
                    <a:pt x="5920460" y="1667179"/>
                  </a:lnTo>
                  <a:lnTo>
                    <a:pt x="5934075" y="16343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1087" y="1804987"/>
              <a:ext cx="5934075" cy="1685925"/>
            </a:xfrm>
            <a:custGeom>
              <a:avLst/>
              <a:gdLst/>
              <a:ahLst/>
              <a:cxnLst/>
              <a:rect l="l" t="t" r="r" b="b"/>
              <a:pathLst>
                <a:path w="5934075" h="1685925">
                  <a:moveTo>
                    <a:pt x="0" y="16306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630680"/>
                  </a:lnTo>
                  <a:lnTo>
                    <a:pt x="5934075" y="1634312"/>
                  </a:lnTo>
                  <a:lnTo>
                    <a:pt x="5933719" y="1637893"/>
                  </a:lnTo>
                  <a:lnTo>
                    <a:pt x="5933008" y="1641462"/>
                  </a:lnTo>
                  <a:lnTo>
                    <a:pt x="5932309" y="1645018"/>
                  </a:lnTo>
                  <a:lnTo>
                    <a:pt x="5917895" y="1669745"/>
                  </a:lnTo>
                  <a:lnTo>
                    <a:pt x="5915329" y="1672310"/>
                  </a:lnTo>
                  <a:lnTo>
                    <a:pt x="5889599" y="1684858"/>
                  </a:lnTo>
                  <a:lnTo>
                    <a:pt x="5886043" y="1685569"/>
                  </a:lnTo>
                  <a:lnTo>
                    <a:pt x="5882462" y="1685925"/>
                  </a:lnTo>
                  <a:lnTo>
                    <a:pt x="5878830" y="1685925"/>
                  </a:lnTo>
                  <a:lnTo>
                    <a:pt x="55245" y="1685925"/>
                  </a:lnTo>
                  <a:lnTo>
                    <a:pt x="51612" y="1685925"/>
                  </a:lnTo>
                  <a:lnTo>
                    <a:pt x="48018" y="1685569"/>
                  </a:lnTo>
                  <a:lnTo>
                    <a:pt x="44462" y="1684858"/>
                  </a:lnTo>
                  <a:lnTo>
                    <a:pt x="40906" y="1684159"/>
                  </a:lnTo>
                  <a:lnTo>
                    <a:pt x="9309" y="1661363"/>
                  </a:lnTo>
                  <a:lnTo>
                    <a:pt x="7289" y="1658353"/>
                  </a:lnTo>
                  <a:lnTo>
                    <a:pt x="1066" y="1641462"/>
                  </a:lnTo>
                  <a:lnTo>
                    <a:pt x="355" y="1637893"/>
                  </a:lnTo>
                  <a:lnTo>
                    <a:pt x="0" y="1634312"/>
                  </a:lnTo>
                  <a:lnTo>
                    <a:pt x="0" y="1630680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67300" y="19811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3125" y="2118897"/>
              <a:ext cx="225479" cy="24173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054600" y="2630487"/>
            <a:ext cx="3088005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BERT</a:t>
            </a:r>
            <a:r>
              <a:rPr sz="1650" spc="9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Transformer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Deep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contextual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semantic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understanding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86325" y="3667125"/>
            <a:ext cx="5943600" cy="1695450"/>
            <a:chOff x="4886325" y="3667125"/>
            <a:chExt cx="5943600" cy="1695450"/>
          </a:xfrm>
        </p:grpSpPr>
        <p:sp>
          <p:nvSpPr>
            <p:cNvPr id="11" name="object 11"/>
            <p:cNvSpPr/>
            <p:nvPr/>
          </p:nvSpPr>
          <p:spPr>
            <a:xfrm>
              <a:off x="4891087" y="3671887"/>
              <a:ext cx="5934075" cy="1685925"/>
            </a:xfrm>
            <a:custGeom>
              <a:avLst/>
              <a:gdLst/>
              <a:ahLst/>
              <a:cxnLst/>
              <a:rect l="l" t="t" r="r" b="b"/>
              <a:pathLst>
                <a:path w="5934075" h="16859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630680"/>
                  </a:lnTo>
                  <a:lnTo>
                    <a:pt x="0" y="1634312"/>
                  </a:lnTo>
                  <a:lnTo>
                    <a:pt x="18745" y="1672310"/>
                  </a:lnTo>
                  <a:lnTo>
                    <a:pt x="51612" y="1685925"/>
                  </a:lnTo>
                  <a:lnTo>
                    <a:pt x="5882462" y="1685925"/>
                  </a:lnTo>
                  <a:lnTo>
                    <a:pt x="5920460" y="1667179"/>
                  </a:lnTo>
                  <a:lnTo>
                    <a:pt x="5934075" y="16343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91087" y="3671887"/>
              <a:ext cx="5934075" cy="1685925"/>
            </a:xfrm>
            <a:custGeom>
              <a:avLst/>
              <a:gdLst/>
              <a:ahLst/>
              <a:cxnLst/>
              <a:rect l="l" t="t" r="r" b="b"/>
              <a:pathLst>
                <a:path w="5934075" h="1685925">
                  <a:moveTo>
                    <a:pt x="0" y="16306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4549" y="9309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15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630680"/>
                  </a:lnTo>
                  <a:lnTo>
                    <a:pt x="5934075" y="1634312"/>
                  </a:lnTo>
                  <a:lnTo>
                    <a:pt x="5933719" y="1637893"/>
                  </a:lnTo>
                  <a:lnTo>
                    <a:pt x="5933008" y="1641462"/>
                  </a:lnTo>
                  <a:lnTo>
                    <a:pt x="5932309" y="1645018"/>
                  </a:lnTo>
                  <a:lnTo>
                    <a:pt x="5917895" y="1669745"/>
                  </a:lnTo>
                  <a:lnTo>
                    <a:pt x="5915329" y="1672310"/>
                  </a:lnTo>
                  <a:lnTo>
                    <a:pt x="5889599" y="1684858"/>
                  </a:lnTo>
                  <a:lnTo>
                    <a:pt x="5886043" y="1685569"/>
                  </a:lnTo>
                  <a:lnTo>
                    <a:pt x="5882462" y="1685925"/>
                  </a:lnTo>
                  <a:lnTo>
                    <a:pt x="5878830" y="1685925"/>
                  </a:lnTo>
                  <a:lnTo>
                    <a:pt x="55245" y="1685925"/>
                  </a:lnTo>
                  <a:lnTo>
                    <a:pt x="51612" y="1685925"/>
                  </a:lnTo>
                  <a:lnTo>
                    <a:pt x="48018" y="1685569"/>
                  </a:lnTo>
                  <a:lnTo>
                    <a:pt x="44462" y="1684858"/>
                  </a:lnTo>
                  <a:lnTo>
                    <a:pt x="40906" y="1684159"/>
                  </a:lnTo>
                  <a:lnTo>
                    <a:pt x="9309" y="1661363"/>
                  </a:lnTo>
                  <a:lnTo>
                    <a:pt x="7289" y="1658353"/>
                  </a:lnTo>
                  <a:lnTo>
                    <a:pt x="1066" y="1641462"/>
                  </a:lnTo>
                  <a:lnTo>
                    <a:pt x="355" y="1637893"/>
                  </a:lnTo>
                  <a:lnTo>
                    <a:pt x="0" y="1634312"/>
                  </a:lnTo>
                  <a:lnTo>
                    <a:pt x="0" y="1630680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67300" y="3848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25910" y="3990975"/>
              <a:ext cx="200025" cy="231775"/>
            </a:xfrm>
            <a:custGeom>
              <a:avLst/>
              <a:gdLst/>
              <a:ahLst/>
              <a:cxnLst/>
              <a:rect l="l" t="t" r="r" b="b"/>
              <a:pathLst>
                <a:path w="200025" h="231775">
                  <a:moveTo>
                    <a:pt x="199948" y="63"/>
                  </a:moveTo>
                  <a:lnTo>
                    <a:pt x="0" y="25"/>
                  </a:lnTo>
                </a:path>
                <a:path w="200025" h="231775">
                  <a:moveTo>
                    <a:pt x="25" y="42621"/>
                  </a:moveTo>
                  <a:lnTo>
                    <a:pt x="0" y="25"/>
                  </a:lnTo>
                </a:path>
                <a:path w="200025" h="231775">
                  <a:moveTo>
                    <a:pt x="100469" y="231394"/>
                  </a:moveTo>
                  <a:lnTo>
                    <a:pt x="100469" y="0"/>
                  </a:lnTo>
                </a:path>
                <a:path w="200025" h="231775">
                  <a:moveTo>
                    <a:pt x="69748" y="231432"/>
                  </a:moveTo>
                  <a:lnTo>
                    <a:pt x="131102" y="231419"/>
                  </a:lnTo>
                </a:path>
                <a:path w="200025" h="231775">
                  <a:moveTo>
                    <a:pt x="199961" y="42621"/>
                  </a:moveTo>
                  <a:lnTo>
                    <a:pt x="199948" y="63"/>
                  </a:lnTo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54600" y="4497387"/>
            <a:ext cx="2926715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NLP</a:t>
            </a:r>
            <a:r>
              <a:rPr sz="1650" spc="7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Pipeline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Tokenization,</a:t>
            </a:r>
            <a:r>
              <a:rPr sz="1350" spc="-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embedding,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classification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86325" y="5534025"/>
            <a:ext cx="5943600" cy="1685925"/>
            <a:chOff x="4886325" y="5534025"/>
            <a:chExt cx="5943600" cy="1685925"/>
          </a:xfrm>
        </p:grpSpPr>
        <p:sp>
          <p:nvSpPr>
            <p:cNvPr id="17" name="object 17"/>
            <p:cNvSpPr/>
            <p:nvPr/>
          </p:nvSpPr>
          <p:spPr>
            <a:xfrm>
              <a:off x="4891087" y="5538787"/>
              <a:ext cx="5934075" cy="1676400"/>
            </a:xfrm>
            <a:custGeom>
              <a:avLst/>
              <a:gdLst/>
              <a:ahLst/>
              <a:cxnLst/>
              <a:rect l="l" t="t" r="r" b="b"/>
              <a:pathLst>
                <a:path w="5934075" h="1676400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621155"/>
                  </a:lnTo>
                  <a:lnTo>
                    <a:pt x="0" y="1624787"/>
                  </a:lnTo>
                  <a:lnTo>
                    <a:pt x="18745" y="1662785"/>
                  </a:lnTo>
                  <a:lnTo>
                    <a:pt x="51612" y="1676400"/>
                  </a:lnTo>
                  <a:lnTo>
                    <a:pt x="5882462" y="1676400"/>
                  </a:lnTo>
                  <a:lnTo>
                    <a:pt x="5920460" y="1657654"/>
                  </a:lnTo>
                  <a:lnTo>
                    <a:pt x="5934075" y="162478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91087" y="5538787"/>
              <a:ext cx="5934075" cy="1676400"/>
            </a:xfrm>
            <a:custGeom>
              <a:avLst/>
              <a:gdLst/>
              <a:ahLst/>
              <a:cxnLst/>
              <a:rect l="l" t="t" r="r" b="b"/>
              <a:pathLst>
                <a:path w="5934075" h="1676400">
                  <a:moveTo>
                    <a:pt x="0" y="16211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621155"/>
                  </a:lnTo>
                  <a:lnTo>
                    <a:pt x="5934075" y="1624787"/>
                  </a:lnTo>
                  <a:lnTo>
                    <a:pt x="5933719" y="1628368"/>
                  </a:lnTo>
                  <a:lnTo>
                    <a:pt x="5933008" y="1631937"/>
                  </a:lnTo>
                  <a:lnTo>
                    <a:pt x="5932309" y="1635493"/>
                  </a:lnTo>
                  <a:lnTo>
                    <a:pt x="5917895" y="1660220"/>
                  </a:lnTo>
                  <a:lnTo>
                    <a:pt x="5915329" y="1662785"/>
                  </a:lnTo>
                  <a:lnTo>
                    <a:pt x="5889599" y="1675333"/>
                  </a:lnTo>
                  <a:lnTo>
                    <a:pt x="5886043" y="1676044"/>
                  </a:lnTo>
                  <a:lnTo>
                    <a:pt x="5882462" y="1676400"/>
                  </a:lnTo>
                  <a:lnTo>
                    <a:pt x="5878830" y="1676400"/>
                  </a:lnTo>
                  <a:lnTo>
                    <a:pt x="55245" y="1676400"/>
                  </a:lnTo>
                  <a:lnTo>
                    <a:pt x="51612" y="1676400"/>
                  </a:lnTo>
                  <a:lnTo>
                    <a:pt x="48018" y="1676044"/>
                  </a:lnTo>
                  <a:lnTo>
                    <a:pt x="44462" y="1675333"/>
                  </a:lnTo>
                  <a:lnTo>
                    <a:pt x="40906" y="1674634"/>
                  </a:lnTo>
                  <a:lnTo>
                    <a:pt x="9309" y="1651838"/>
                  </a:lnTo>
                  <a:lnTo>
                    <a:pt x="7289" y="1648828"/>
                  </a:lnTo>
                  <a:lnTo>
                    <a:pt x="1066" y="1631937"/>
                  </a:lnTo>
                  <a:lnTo>
                    <a:pt x="355" y="1628368"/>
                  </a:lnTo>
                  <a:lnTo>
                    <a:pt x="0" y="1624787"/>
                  </a:lnTo>
                  <a:lnTo>
                    <a:pt x="0" y="1621155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67300" y="57150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4035" y="5852744"/>
              <a:ext cx="223799" cy="24190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54600" y="6364287"/>
            <a:ext cx="2694940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Source</a:t>
            </a:r>
            <a:r>
              <a:rPr sz="1650" spc="7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Verification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Cross-references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trusted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databases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86325" y="7391400"/>
            <a:ext cx="5943600" cy="1695450"/>
            <a:chOff x="4886325" y="7391400"/>
            <a:chExt cx="5943600" cy="1695450"/>
          </a:xfrm>
        </p:grpSpPr>
        <p:sp>
          <p:nvSpPr>
            <p:cNvPr id="23" name="object 23"/>
            <p:cNvSpPr/>
            <p:nvPr/>
          </p:nvSpPr>
          <p:spPr>
            <a:xfrm>
              <a:off x="4891087" y="7396162"/>
              <a:ext cx="5934075" cy="1685925"/>
            </a:xfrm>
            <a:custGeom>
              <a:avLst/>
              <a:gdLst/>
              <a:ahLst/>
              <a:cxnLst/>
              <a:rect l="l" t="t" r="r" b="b"/>
              <a:pathLst>
                <a:path w="5934075" h="16859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630681"/>
                  </a:lnTo>
                  <a:lnTo>
                    <a:pt x="0" y="1634307"/>
                  </a:lnTo>
                  <a:lnTo>
                    <a:pt x="18745" y="1672308"/>
                  </a:lnTo>
                  <a:lnTo>
                    <a:pt x="51612" y="1685921"/>
                  </a:lnTo>
                  <a:lnTo>
                    <a:pt x="5882462" y="1685921"/>
                  </a:lnTo>
                  <a:lnTo>
                    <a:pt x="5920460" y="1667178"/>
                  </a:lnTo>
                  <a:lnTo>
                    <a:pt x="5934075" y="16343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91087" y="7396162"/>
              <a:ext cx="5934075" cy="1685925"/>
            </a:xfrm>
            <a:custGeom>
              <a:avLst/>
              <a:gdLst/>
              <a:ahLst/>
              <a:cxnLst/>
              <a:rect l="l" t="t" r="r" b="b"/>
              <a:pathLst>
                <a:path w="5934075" h="1685925">
                  <a:moveTo>
                    <a:pt x="0" y="16306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4549" y="9309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15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630681"/>
                  </a:lnTo>
                  <a:lnTo>
                    <a:pt x="5934075" y="1634307"/>
                  </a:lnTo>
                  <a:lnTo>
                    <a:pt x="5933719" y="1637898"/>
                  </a:lnTo>
                  <a:lnTo>
                    <a:pt x="5933008" y="1641455"/>
                  </a:lnTo>
                  <a:lnTo>
                    <a:pt x="5932309" y="1645013"/>
                  </a:lnTo>
                  <a:lnTo>
                    <a:pt x="5909513" y="1676609"/>
                  </a:lnTo>
                  <a:lnTo>
                    <a:pt x="5906503" y="1678628"/>
                  </a:lnTo>
                  <a:lnTo>
                    <a:pt x="5903328" y="1680330"/>
                  </a:lnTo>
                  <a:lnTo>
                    <a:pt x="5899962" y="1681718"/>
                  </a:lnTo>
                  <a:lnTo>
                    <a:pt x="5896622" y="1683103"/>
                  </a:lnTo>
                  <a:lnTo>
                    <a:pt x="5893168" y="1684154"/>
                  </a:lnTo>
                  <a:lnTo>
                    <a:pt x="5889599" y="1684859"/>
                  </a:lnTo>
                  <a:lnTo>
                    <a:pt x="5886043" y="1685569"/>
                  </a:lnTo>
                  <a:lnTo>
                    <a:pt x="5882462" y="1685921"/>
                  </a:lnTo>
                  <a:lnTo>
                    <a:pt x="5878830" y="1685926"/>
                  </a:lnTo>
                  <a:lnTo>
                    <a:pt x="55245" y="1685926"/>
                  </a:lnTo>
                  <a:lnTo>
                    <a:pt x="34099" y="1681718"/>
                  </a:lnTo>
                  <a:lnTo>
                    <a:pt x="30746" y="1680330"/>
                  </a:lnTo>
                  <a:lnTo>
                    <a:pt x="4203" y="1651819"/>
                  </a:lnTo>
                  <a:lnTo>
                    <a:pt x="1066" y="1641455"/>
                  </a:lnTo>
                  <a:lnTo>
                    <a:pt x="355" y="1637898"/>
                  </a:lnTo>
                  <a:lnTo>
                    <a:pt x="0" y="1634307"/>
                  </a:lnTo>
                  <a:lnTo>
                    <a:pt x="0" y="1630681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67300" y="75723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E5E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0707" y="7709942"/>
              <a:ext cx="170431" cy="24186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054600" y="8221664"/>
            <a:ext cx="2880360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Explainable</a:t>
            </a:r>
            <a:r>
              <a:rPr sz="1650" spc="1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25" dirty="0">
                <a:solidFill>
                  <a:srgbClr val="262424"/>
                </a:solidFill>
                <a:latin typeface="Georgia"/>
                <a:cs typeface="Georgia"/>
              </a:rPr>
              <a:t>AI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Transparent,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interpretable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predictions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87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25"/>
              </a:spcBef>
            </a:pPr>
            <a:r>
              <a:rPr dirty="0"/>
              <a:t>Hardware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Software</a:t>
            </a:r>
            <a:r>
              <a:rPr spc="-20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628650" y="2619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8650" y="3228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35623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50" y="3895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650" y="4505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650" y="48387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7375" y="2030412"/>
            <a:ext cx="4722495" cy="3217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302F2B"/>
                </a:solidFill>
                <a:latin typeface="Georgia"/>
                <a:cs typeface="Georgia"/>
              </a:rPr>
              <a:t>Software</a:t>
            </a:r>
            <a:endParaRPr sz="1650">
              <a:latin typeface="Georgia"/>
              <a:cs typeface="Georgia"/>
            </a:endParaRPr>
          </a:p>
          <a:p>
            <a:pPr marL="286385" marR="169545">
              <a:lnSpc>
                <a:spcPct val="134300"/>
              </a:lnSpc>
              <a:spcBef>
                <a:spcPts val="1290"/>
              </a:spcBef>
            </a:pP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Python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60" dirty="0">
                <a:solidFill>
                  <a:srgbClr val="262424"/>
                </a:solidFill>
                <a:latin typeface="Tahoma"/>
                <a:cs typeface="Tahoma"/>
              </a:rPr>
              <a:t>3.9+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core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backend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language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NLP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model orchestration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FastAPI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serves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predictions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handles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requests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-90" dirty="0">
                <a:solidFill>
                  <a:srgbClr val="262424"/>
                </a:solidFill>
                <a:latin typeface="Tahoma"/>
                <a:cs typeface="Tahoma"/>
              </a:rPr>
              <a:t>React </a:t>
            </a:r>
            <a:r>
              <a:rPr sz="1350" b="1" spc="-260" dirty="0">
                <a:solidFill>
                  <a:srgbClr val="262424"/>
                </a:solidFill>
                <a:latin typeface="Tahoma"/>
                <a:cs typeface="Tahoma"/>
              </a:rPr>
              <a:t>/</a:t>
            </a:r>
            <a:r>
              <a:rPr sz="1350" b="1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Next.js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powers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responsive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frontend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interface</a:t>
            </a:r>
            <a:endParaRPr sz="13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450"/>
              </a:spcBef>
            </a:pP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HuggingFace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Transformers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provides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BERT-based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models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claim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analysis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News</a:t>
            </a: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90" dirty="0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supplies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current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context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verification</a:t>
            </a:r>
            <a:endParaRPr sz="1350">
              <a:latin typeface="Tahoma"/>
              <a:cs typeface="Tahoma"/>
            </a:endParaRPr>
          </a:p>
          <a:p>
            <a:pPr marL="286385" marR="256540">
              <a:lnSpc>
                <a:spcPct val="134300"/>
              </a:lnSpc>
              <a:spcBef>
                <a:spcPts val="450"/>
              </a:spcBef>
            </a:pP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Fact-</a:t>
            </a: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check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APIs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connect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trusted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sources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cross-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checking</a:t>
            </a:r>
            <a:r>
              <a:rPr sz="1350" spc="-1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claims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62650" y="2619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62650" y="2952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62650" y="3286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20714" y="2030412"/>
            <a:ext cx="4342130" cy="1388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302F2B"/>
                </a:solidFill>
                <a:latin typeface="Georgia"/>
                <a:cs typeface="Georgia"/>
              </a:rPr>
              <a:t>Why</a:t>
            </a:r>
            <a:r>
              <a:rPr sz="1650" spc="35" dirty="0">
                <a:solidFill>
                  <a:srgbClr val="302F2B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302F2B"/>
                </a:solidFill>
                <a:latin typeface="Georgia"/>
                <a:cs typeface="Georgia"/>
              </a:rPr>
              <a:t>it</a:t>
            </a:r>
            <a:r>
              <a:rPr sz="1650" spc="35" dirty="0">
                <a:solidFill>
                  <a:srgbClr val="302F2B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302F2B"/>
                </a:solidFill>
                <a:latin typeface="Georgia"/>
                <a:cs typeface="Georgia"/>
              </a:rPr>
              <a:t>matters</a:t>
            </a:r>
            <a:endParaRPr sz="1650">
              <a:latin typeface="Georgia"/>
              <a:cs typeface="Georgia"/>
            </a:endParaRPr>
          </a:p>
          <a:p>
            <a:pPr marL="287020">
              <a:lnSpc>
                <a:spcPct val="100000"/>
              </a:lnSpc>
              <a:spcBef>
                <a:spcPts val="184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Supports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full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TruthLens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AI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workflow</a:t>
            </a:r>
            <a:endParaRPr sz="1350">
              <a:latin typeface="Tahoma"/>
              <a:cs typeface="Tahoma"/>
            </a:endParaRPr>
          </a:p>
          <a:p>
            <a:pPr marL="287020" marR="5080">
              <a:lnSpc>
                <a:spcPct val="162000"/>
              </a:lnSpc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Combines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machine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learning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live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evidence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sources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Keeps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results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transparent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traceable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25"/>
              </a:spcBef>
            </a:pPr>
            <a:r>
              <a:rPr dirty="0"/>
              <a:t>System</a:t>
            </a:r>
            <a:r>
              <a:rPr spc="5" dirty="0"/>
              <a:t> </a:t>
            </a: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3653" y="1701800"/>
            <a:ext cx="2044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01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200977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5" y="2097087"/>
            <a:ext cx="1483995" cy="645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Data</a:t>
            </a:r>
            <a:r>
              <a:rPr sz="1650" spc="3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Collection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News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ingestion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9742" y="1701800"/>
            <a:ext cx="2266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67175" y="200977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54475" y="2097087"/>
            <a:ext cx="1692910" cy="645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Preprocessing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Cleaning,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tokenization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7440" y="1701800"/>
            <a:ext cx="2254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34275" y="200977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21575" y="2097087"/>
            <a:ext cx="1664335" cy="645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Model</a:t>
            </a:r>
            <a:r>
              <a:rPr sz="1650" spc="7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Prediction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BERT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classification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2046" y="3044825"/>
            <a:ext cx="2279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0075" y="3343275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7375" y="3430587"/>
            <a:ext cx="1517015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NLP</a:t>
            </a:r>
            <a:r>
              <a:rPr sz="1650" spc="7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Analysis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Semantic</a:t>
            </a:r>
            <a:r>
              <a:rPr sz="1350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extraction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2270" y="3044825"/>
            <a:ext cx="2216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05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67175" y="3343275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054475" y="3430587"/>
            <a:ext cx="1858010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Source</a:t>
            </a:r>
            <a:r>
              <a:rPr sz="1650" spc="7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Verification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Cross-reference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sources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6246" y="3044825"/>
            <a:ext cx="2279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06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34275" y="3343275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21575" y="3430587"/>
            <a:ext cx="1729105" cy="655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Real-Time</a:t>
            </a:r>
            <a:r>
              <a:rPr sz="1650" spc="114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20" dirty="0">
                <a:solidFill>
                  <a:srgbClr val="262424"/>
                </a:solidFill>
                <a:latin typeface="Georgia"/>
                <a:cs typeface="Georgia"/>
              </a:rPr>
              <a:t>News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Live</a:t>
            </a:r>
            <a:r>
              <a:rPr sz="1350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stream</a:t>
            </a:r>
            <a:r>
              <a:rPr sz="1350" spc="-1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processing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0075" y="4686300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9850" y="0"/>
                </a:moveTo>
                <a:lnTo>
                  <a:pt x="0" y="0"/>
                </a:lnTo>
                <a:lnTo>
                  <a:pt x="0" y="19050"/>
                </a:lnTo>
                <a:lnTo>
                  <a:pt x="10229850" y="19050"/>
                </a:lnTo>
                <a:lnTo>
                  <a:pt x="10229850" y="0"/>
                </a:lnTo>
                <a:close/>
              </a:path>
            </a:pathLst>
          </a:custGeom>
          <a:solidFill>
            <a:srgbClr val="E5E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7405" y="4378325"/>
            <a:ext cx="1386840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07</a:t>
            </a:r>
            <a:endParaRPr sz="1350">
              <a:latin typeface="Georgia"/>
              <a:cs typeface="Georgia"/>
            </a:endParaRPr>
          </a:p>
          <a:p>
            <a:pPr marL="22225">
              <a:lnSpc>
                <a:spcPct val="100000"/>
              </a:lnSpc>
              <a:spcBef>
                <a:spcPts val="1530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User</a:t>
            </a:r>
            <a:r>
              <a:rPr sz="1650" spc="7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Interface</a:t>
            </a:r>
            <a:endParaRPr sz="1650">
              <a:latin typeface="Georgia"/>
              <a:cs typeface="Georgia"/>
            </a:endParaRPr>
          </a:p>
          <a:p>
            <a:pPr marL="22225">
              <a:lnSpc>
                <a:spcPct val="100000"/>
              </a:lnSpc>
              <a:spcBef>
                <a:spcPts val="132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React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25"/>
              </a:spcBef>
            </a:pPr>
            <a:r>
              <a:rPr dirty="0"/>
              <a:t>System</a:t>
            </a:r>
            <a:r>
              <a:rPr spc="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1252" y="1747826"/>
            <a:ext cx="7659760" cy="20259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81022" y="4333657"/>
            <a:ext cx="138112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262424"/>
                </a:solidFill>
                <a:latin typeface="Georgia"/>
                <a:cs typeface="Georgia"/>
              </a:rPr>
              <a:t>Output</a:t>
            </a:r>
            <a:r>
              <a:rPr sz="1800" spc="-2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62424"/>
                </a:solidFill>
                <a:latin typeface="Georgia"/>
                <a:cs typeface="Georgia"/>
              </a:rPr>
              <a:t>Layer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3676" y="4169994"/>
            <a:ext cx="139192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915" marR="5080" indent="-323850">
              <a:lnSpc>
                <a:spcPct val="108100"/>
              </a:lnSpc>
              <a:spcBef>
                <a:spcPts val="95"/>
              </a:spcBef>
            </a:pPr>
            <a:r>
              <a:rPr sz="1800" spc="-10" dirty="0">
                <a:solidFill>
                  <a:srgbClr val="262424"/>
                </a:solidFill>
                <a:latin typeface="Georgia"/>
                <a:cs typeface="Georgia"/>
              </a:rPr>
              <a:t>Classification Engine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7545" y="4169994"/>
            <a:ext cx="1118870" cy="6191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0"/>
              </a:spcBef>
            </a:pPr>
            <a:r>
              <a:rPr sz="1800" spc="-25" dirty="0">
                <a:solidFill>
                  <a:srgbClr val="262424"/>
                </a:solidFill>
                <a:latin typeface="Georgia"/>
                <a:cs typeface="Georgia"/>
              </a:rPr>
              <a:t>NLP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800" spc="-10" dirty="0">
                <a:solidFill>
                  <a:srgbClr val="262424"/>
                </a:solidFill>
                <a:latin typeface="Georgia"/>
                <a:cs typeface="Georgia"/>
              </a:rPr>
              <a:t>Processing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2515" y="4333657"/>
            <a:ext cx="12242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262424"/>
                </a:solidFill>
                <a:latin typeface="Georgia"/>
                <a:cs typeface="Georgia"/>
              </a:rPr>
              <a:t>Input</a:t>
            </a:r>
            <a:r>
              <a:rPr sz="1800" spc="-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62424"/>
                </a:solidFill>
                <a:latin typeface="Georgia"/>
                <a:cs typeface="Georgia"/>
              </a:rPr>
              <a:t>Layer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5" y="5454646"/>
            <a:ext cx="97980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End-to-end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flow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from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raw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article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ingestion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through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transformer-based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NLP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processing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real-time,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explainable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credibility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verdict.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837" y="1329055"/>
            <a:ext cx="4104004" cy="508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dirty="0"/>
              <a:t>Results</a:t>
            </a:r>
            <a:r>
              <a:rPr sz="3150" spc="-15" dirty="0"/>
              <a:t> </a:t>
            </a:r>
            <a:r>
              <a:rPr sz="3150" dirty="0"/>
              <a:t>&amp;</a:t>
            </a:r>
            <a:r>
              <a:rPr sz="3150" spc="-15" dirty="0"/>
              <a:t> </a:t>
            </a:r>
            <a:r>
              <a:rPr sz="3150" spc="-10" dirty="0"/>
              <a:t>Performance</a:t>
            </a:r>
            <a:endParaRPr sz="3150"/>
          </a:p>
        </p:txBody>
      </p:sp>
      <p:sp>
        <p:nvSpPr>
          <p:cNvPr id="3" name="object 3"/>
          <p:cNvSpPr/>
          <p:nvPr/>
        </p:nvSpPr>
        <p:spPr>
          <a:xfrm>
            <a:off x="5599590" y="279979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0389" y="0"/>
                </a:moveTo>
                <a:lnTo>
                  <a:pt x="23280" y="0"/>
                </a:lnTo>
                <a:lnTo>
                  <a:pt x="19846" y="679"/>
                </a:lnTo>
                <a:lnTo>
                  <a:pt x="0" y="23280"/>
                </a:lnTo>
                <a:lnTo>
                  <a:pt x="0" y="30389"/>
                </a:lnTo>
                <a:lnTo>
                  <a:pt x="23280" y="53670"/>
                </a:lnTo>
                <a:lnTo>
                  <a:pt x="30389" y="53670"/>
                </a:lnTo>
                <a:lnTo>
                  <a:pt x="53670" y="30389"/>
                </a:lnTo>
                <a:lnTo>
                  <a:pt x="53670" y="26835"/>
                </a:lnTo>
                <a:lnTo>
                  <a:pt x="53670" y="23280"/>
                </a:lnTo>
                <a:lnTo>
                  <a:pt x="33812" y="679"/>
                </a:lnTo>
                <a:lnTo>
                  <a:pt x="3038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99590" y="3112871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0389" y="0"/>
                </a:moveTo>
                <a:lnTo>
                  <a:pt x="23280" y="0"/>
                </a:lnTo>
                <a:lnTo>
                  <a:pt x="19846" y="679"/>
                </a:lnTo>
                <a:lnTo>
                  <a:pt x="0" y="23280"/>
                </a:lnTo>
                <a:lnTo>
                  <a:pt x="0" y="30389"/>
                </a:lnTo>
                <a:lnTo>
                  <a:pt x="23280" y="53670"/>
                </a:lnTo>
                <a:lnTo>
                  <a:pt x="30389" y="53670"/>
                </a:lnTo>
                <a:lnTo>
                  <a:pt x="53670" y="30389"/>
                </a:lnTo>
                <a:lnTo>
                  <a:pt x="53670" y="26835"/>
                </a:lnTo>
                <a:lnTo>
                  <a:pt x="53670" y="23280"/>
                </a:lnTo>
                <a:lnTo>
                  <a:pt x="33812" y="679"/>
                </a:lnTo>
                <a:lnTo>
                  <a:pt x="3038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9590" y="3425947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0389" y="0"/>
                </a:moveTo>
                <a:lnTo>
                  <a:pt x="23280" y="0"/>
                </a:lnTo>
                <a:lnTo>
                  <a:pt x="19846" y="679"/>
                </a:lnTo>
                <a:lnTo>
                  <a:pt x="0" y="23280"/>
                </a:lnTo>
                <a:lnTo>
                  <a:pt x="0" y="30389"/>
                </a:lnTo>
                <a:lnTo>
                  <a:pt x="23280" y="53670"/>
                </a:lnTo>
                <a:lnTo>
                  <a:pt x="30389" y="53670"/>
                </a:lnTo>
                <a:lnTo>
                  <a:pt x="53670" y="30389"/>
                </a:lnTo>
                <a:lnTo>
                  <a:pt x="53670" y="26835"/>
                </a:lnTo>
                <a:lnTo>
                  <a:pt x="53670" y="23280"/>
                </a:lnTo>
                <a:lnTo>
                  <a:pt x="33812" y="679"/>
                </a:lnTo>
                <a:lnTo>
                  <a:pt x="3038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59638" y="2245920"/>
            <a:ext cx="3737610" cy="13055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302F2B"/>
                </a:solidFill>
                <a:latin typeface="Georgia"/>
                <a:cs typeface="Georgia"/>
              </a:rPr>
              <a:t>Key</a:t>
            </a:r>
            <a:r>
              <a:rPr sz="1550" spc="45" dirty="0">
                <a:solidFill>
                  <a:srgbClr val="302F2B"/>
                </a:solidFill>
                <a:latin typeface="Georgia"/>
                <a:cs typeface="Georgia"/>
              </a:rPr>
              <a:t> </a:t>
            </a:r>
            <a:r>
              <a:rPr sz="1550" spc="-10" dirty="0">
                <a:solidFill>
                  <a:srgbClr val="302F2B"/>
                </a:solidFill>
                <a:latin typeface="Georgia"/>
                <a:cs typeface="Georgia"/>
              </a:rPr>
              <a:t>Findings</a:t>
            </a:r>
            <a:endParaRPr sz="1550">
              <a:latin typeface="Georgia"/>
              <a:cs typeface="Georgia"/>
            </a:endParaRPr>
          </a:p>
          <a:p>
            <a:pPr marL="269875" marR="5080">
              <a:lnSpc>
                <a:spcPct val="164300"/>
              </a:lnSpc>
              <a:spcBef>
                <a:spcPts val="785"/>
              </a:spcBef>
            </a:pPr>
            <a:r>
              <a:rPr sz="1250" b="1" spc="-215" dirty="0">
                <a:solidFill>
                  <a:srgbClr val="262424"/>
                </a:solidFill>
                <a:latin typeface="Tahoma"/>
                <a:cs typeface="Tahoma"/>
              </a:rPr>
              <a:t>94%</a:t>
            </a:r>
            <a:r>
              <a:rPr sz="1250" b="1" spc="-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b="1" spc="-75" dirty="0">
                <a:solidFill>
                  <a:srgbClr val="262424"/>
                </a:solidFill>
                <a:latin typeface="Tahoma"/>
                <a:cs typeface="Tahoma"/>
              </a:rPr>
              <a:t>accuracy</a:t>
            </a:r>
            <a:r>
              <a:rPr sz="1250" b="1" spc="-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-110" dirty="0">
                <a:solidFill>
                  <a:srgbClr val="262424"/>
                </a:solidFill>
                <a:latin typeface="Tahoma"/>
                <a:cs typeface="Tahoma"/>
              </a:rPr>
              <a:t>—</a:t>
            </a:r>
            <a:r>
              <a:rPr sz="12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62424"/>
                </a:solidFill>
                <a:latin typeface="Tahoma"/>
                <a:cs typeface="Tahoma"/>
              </a:rPr>
              <a:t>12-point</a:t>
            </a:r>
            <a:r>
              <a:rPr sz="12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62424"/>
                </a:solidFill>
                <a:latin typeface="Tahoma"/>
                <a:cs typeface="Tahoma"/>
              </a:rPr>
              <a:t>gain</a:t>
            </a:r>
            <a:r>
              <a:rPr sz="12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62424"/>
                </a:solidFill>
                <a:latin typeface="Tahoma"/>
                <a:cs typeface="Tahoma"/>
              </a:rPr>
              <a:t>over</a:t>
            </a:r>
            <a:r>
              <a:rPr sz="12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85" dirty="0">
                <a:solidFill>
                  <a:srgbClr val="262424"/>
                </a:solidFill>
                <a:latin typeface="Tahoma"/>
                <a:cs typeface="Tahoma"/>
              </a:rPr>
              <a:t>SVM</a:t>
            </a:r>
            <a:r>
              <a:rPr sz="12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62424"/>
                </a:solidFill>
                <a:latin typeface="Tahoma"/>
                <a:cs typeface="Tahoma"/>
              </a:rPr>
              <a:t>baseline </a:t>
            </a:r>
            <a:r>
              <a:rPr sz="1250" dirty="0">
                <a:solidFill>
                  <a:srgbClr val="262424"/>
                </a:solidFill>
                <a:latin typeface="Tahoma"/>
                <a:cs typeface="Tahoma"/>
              </a:rPr>
              <a:t>Real-time</a:t>
            </a:r>
            <a:r>
              <a:rPr sz="12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62424"/>
                </a:solidFill>
                <a:latin typeface="Tahoma"/>
                <a:cs typeface="Tahoma"/>
              </a:rPr>
              <a:t>inference</a:t>
            </a:r>
            <a:r>
              <a:rPr sz="12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62424"/>
                </a:solidFill>
                <a:latin typeface="Tahoma"/>
                <a:cs typeface="Tahoma"/>
              </a:rPr>
              <a:t>under</a:t>
            </a:r>
            <a:r>
              <a:rPr sz="12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62424"/>
                </a:solidFill>
                <a:latin typeface="Tahoma"/>
                <a:cs typeface="Tahoma"/>
              </a:rPr>
              <a:t>2</a:t>
            </a:r>
            <a:r>
              <a:rPr sz="12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62424"/>
                </a:solidFill>
                <a:latin typeface="Tahoma"/>
                <a:cs typeface="Tahoma"/>
              </a:rPr>
              <a:t>seconds</a:t>
            </a:r>
            <a:endParaRPr sz="1250">
              <a:latin typeface="Tahoma"/>
              <a:cs typeface="Tahoma"/>
            </a:endParaRPr>
          </a:p>
          <a:p>
            <a:pPr marL="269875">
              <a:lnSpc>
                <a:spcPct val="100000"/>
              </a:lnSpc>
              <a:spcBef>
                <a:spcPts val="965"/>
              </a:spcBef>
            </a:pPr>
            <a:r>
              <a:rPr sz="1250" spc="10" dirty="0">
                <a:solidFill>
                  <a:srgbClr val="262424"/>
                </a:solidFill>
                <a:latin typeface="Tahoma"/>
                <a:cs typeface="Tahoma"/>
              </a:rPr>
              <a:t>Explainable</a:t>
            </a:r>
            <a:r>
              <a:rPr sz="12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262424"/>
                </a:solidFill>
                <a:latin typeface="Tahoma"/>
                <a:cs typeface="Tahoma"/>
              </a:rPr>
              <a:t>output</a:t>
            </a:r>
            <a:r>
              <a:rPr sz="12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sz="12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262424"/>
                </a:solidFill>
                <a:latin typeface="Tahoma"/>
                <a:cs typeface="Tahoma"/>
              </a:rPr>
              <a:t>source</a:t>
            </a:r>
            <a:r>
              <a:rPr sz="12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262424"/>
                </a:solidFill>
                <a:latin typeface="Tahoma"/>
                <a:cs typeface="Tahoma"/>
              </a:rPr>
              <a:t>credibility</a:t>
            </a:r>
            <a:r>
              <a:rPr sz="12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62424"/>
                </a:solidFill>
                <a:latin typeface="Tahoma"/>
                <a:cs typeface="Tahoma"/>
              </a:rPr>
              <a:t>scores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6864" y="6161865"/>
            <a:ext cx="8826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25" dirty="0">
                <a:solidFill>
                  <a:srgbClr val="262424"/>
                </a:solidFill>
                <a:latin typeface="Tahoma"/>
                <a:cs typeface="Tahoma"/>
              </a:rPr>
              <a:t>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6864" y="5403456"/>
            <a:ext cx="14795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40" dirty="0">
                <a:solidFill>
                  <a:srgbClr val="262424"/>
                </a:solidFill>
                <a:latin typeface="Tahoma"/>
                <a:cs typeface="Tahoma"/>
              </a:rPr>
              <a:t>20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6864" y="4645047"/>
            <a:ext cx="15176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55" dirty="0">
                <a:solidFill>
                  <a:srgbClr val="262424"/>
                </a:solidFill>
                <a:latin typeface="Tahoma"/>
                <a:cs typeface="Tahoma"/>
              </a:rPr>
              <a:t>40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6864" y="3886634"/>
            <a:ext cx="1485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40" dirty="0">
                <a:solidFill>
                  <a:srgbClr val="262424"/>
                </a:solidFill>
                <a:latin typeface="Tahoma"/>
                <a:cs typeface="Tahoma"/>
              </a:rPr>
              <a:t>60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6864" y="3128225"/>
            <a:ext cx="1485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40" dirty="0">
                <a:solidFill>
                  <a:srgbClr val="262424"/>
                </a:solidFill>
                <a:latin typeface="Tahoma"/>
                <a:cs typeface="Tahoma"/>
              </a:rPr>
              <a:t>80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6551" y="2261218"/>
            <a:ext cx="661035" cy="250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8255" algn="r">
              <a:lnSpc>
                <a:spcPts val="880"/>
              </a:lnSpc>
              <a:spcBef>
                <a:spcPts val="110"/>
              </a:spcBef>
            </a:pPr>
            <a:r>
              <a:rPr sz="750" spc="55" dirty="0">
                <a:solidFill>
                  <a:srgbClr val="262424"/>
                </a:solidFill>
                <a:latin typeface="Tahoma"/>
                <a:cs typeface="Tahoma"/>
              </a:rPr>
              <a:t>Accuracy</a:t>
            </a:r>
            <a:r>
              <a:rPr sz="7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750" spc="-40" dirty="0">
                <a:solidFill>
                  <a:srgbClr val="262424"/>
                </a:solidFill>
                <a:latin typeface="Tahoma"/>
                <a:cs typeface="Tahoma"/>
              </a:rPr>
              <a:t>á%â</a:t>
            </a:r>
            <a:endParaRPr sz="750">
              <a:latin typeface="Tahoma"/>
              <a:cs typeface="Tahoma"/>
            </a:endParaRPr>
          </a:p>
          <a:p>
            <a:pPr marR="5080" algn="r">
              <a:lnSpc>
                <a:spcPts val="880"/>
              </a:lnSpc>
            </a:pPr>
            <a:r>
              <a:rPr sz="750" spc="-25" dirty="0">
                <a:solidFill>
                  <a:srgbClr val="262424"/>
                </a:solidFill>
                <a:latin typeface="Tahoma"/>
                <a:cs typeface="Tahoma"/>
              </a:rPr>
              <a:t>100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0119" y="6318403"/>
            <a:ext cx="5930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10" dirty="0">
                <a:solidFill>
                  <a:srgbClr val="262424"/>
                </a:solidFill>
                <a:latin typeface="Tahoma"/>
                <a:cs typeface="Tahoma"/>
              </a:rPr>
              <a:t>Naive</a:t>
            </a:r>
            <a:r>
              <a:rPr sz="750" spc="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62424"/>
                </a:solidFill>
                <a:latin typeface="Tahoma"/>
                <a:cs typeface="Tahoma"/>
              </a:rPr>
              <a:t>Bayes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5516" y="6318403"/>
            <a:ext cx="24447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0" dirty="0">
                <a:solidFill>
                  <a:srgbClr val="262424"/>
                </a:solidFill>
                <a:latin typeface="Tahoma"/>
                <a:cs typeface="Tahoma"/>
              </a:rPr>
              <a:t>SVM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02431" y="6318403"/>
            <a:ext cx="29337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50" dirty="0">
                <a:solidFill>
                  <a:srgbClr val="262424"/>
                </a:solidFill>
                <a:latin typeface="Tahoma"/>
                <a:cs typeface="Tahoma"/>
              </a:rPr>
              <a:t>LSTM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14610" y="6318403"/>
            <a:ext cx="61150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20" dirty="0">
                <a:solidFill>
                  <a:srgbClr val="262424"/>
                </a:solidFill>
                <a:latin typeface="Tahoma"/>
                <a:cs typeface="Tahoma"/>
              </a:rPr>
              <a:t>TruthLens</a:t>
            </a:r>
            <a:r>
              <a:rPr sz="7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750" spc="-25" dirty="0">
                <a:solidFill>
                  <a:srgbClr val="262424"/>
                </a:solidFill>
                <a:latin typeface="Tahoma"/>
                <a:cs typeface="Tahoma"/>
              </a:rPr>
              <a:t>AI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70" y="2443341"/>
            <a:ext cx="4293896" cy="3872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44675"/>
            <a:ext cx="393319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Publication</a:t>
            </a:r>
            <a:r>
              <a:rPr spc="-5" dirty="0"/>
              <a:t> </a:t>
            </a:r>
            <a:r>
              <a:rPr spc="-10" dirty="0"/>
              <a:t>Progress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771774"/>
            <a:ext cx="3295650" cy="514350"/>
            <a:chOff x="600075" y="2771774"/>
            <a:chExt cx="3295650" cy="514350"/>
          </a:xfrm>
        </p:grpSpPr>
        <p:sp>
          <p:nvSpPr>
            <p:cNvPr id="4" name="object 4"/>
            <p:cNvSpPr/>
            <p:nvPr/>
          </p:nvSpPr>
          <p:spPr>
            <a:xfrm>
              <a:off x="604837" y="2776537"/>
              <a:ext cx="3286125" cy="504825"/>
            </a:xfrm>
            <a:custGeom>
              <a:avLst/>
              <a:gdLst/>
              <a:ahLst/>
              <a:cxnLst/>
              <a:rect l="l" t="t" r="r" b="b"/>
              <a:pathLst>
                <a:path w="3286125" h="504825">
                  <a:moveTo>
                    <a:pt x="3041980" y="0"/>
                  </a:moveTo>
                  <a:lnTo>
                    <a:pt x="244147" y="0"/>
                  </a:lnTo>
                  <a:lnTo>
                    <a:pt x="235897" y="406"/>
                  </a:lnTo>
                  <a:lnTo>
                    <a:pt x="195059" y="6464"/>
                  </a:lnTo>
                  <a:lnTo>
                    <a:pt x="148183" y="22377"/>
                  </a:lnTo>
                  <a:lnTo>
                    <a:pt x="105305" y="47129"/>
                  </a:lnTo>
                  <a:lnTo>
                    <a:pt x="68083" y="79768"/>
                  </a:lnTo>
                  <a:lnTo>
                    <a:pt x="37946" y="119049"/>
                  </a:lnTo>
                  <a:lnTo>
                    <a:pt x="16048" y="163449"/>
                  </a:lnTo>
                  <a:lnTo>
                    <a:pt x="3239" y="211277"/>
                  </a:lnTo>
                  <a:lnTo>
                    <a:pt x="0" y="244144"/>
                  </a:lnTo>
                  <a:lnTo>
                    <a:pt x="0" y="252412"/>
                  </a:lnTo>
                  <a:lnTo>
                    <a:pt x="0" y="260680"/>
                  </a:lnTo>
                  <a:lnTo>
                    <a:pt x="6464" y="309765"/>
                  </a:lnTo>
                  <a:lnTo>
                    <a:pt x="22378" y="356641"/>
                  </a:lnTo>
                  <a:lnTo>
                    <a:pt x="47133" y="399516"/>
                  </a:lnTo>
                  <a:lnTo>
                    <a:pt x="79776" y="436740"/>
                  </a:lnTo>
                  <a:lnTo>
                    <a:pt x="119052" y="466877"/>
                  </a:lnTo>
                  <a:lnTo>
                    <a:pt x="163457" y="488772"/>
                  </a:lnTo>
                  <a:lnTo>
                    <a:pt x="211275" y="501586"/>
                  </a:lnTo>
                  <a:lnTo>
                    <a:pt x="244147" y="504825"/>
                  </a:lnTo>
                  <a:lnTo>
                    <a:pt x="3041980" y="504825"/>
                  </a:lnTo>
                  <a:lnTo>
                    <a:pt x="3091065" y="498360"/>
                  </a:lnTo>
                  <a:lnTo>
                    <a:pt x="3137941" y="482447"/>
                  </a:lnTo>
                  <a:lnTo>
                    <a:pt x="3180816" y="457695"/>
                  </a:lnTo>
                  <a:lnTo>
                    <a:pt x="3218040" y="425043"/>
                  </a:lnTo>
                  <a:lnTo>
                    <a:pt x="3248177" y="385762"/>
                  </a:lnTo>
                  <a:lnTo>
                    <a:pt x="3270072" y="341363"/>
                  </a:lnTo>
                  <a:lnTo>
                    <a:pt x="3282886" y="293547"/>
                  </a:lnTo>
                  <a:lnTo>
                    <a:pt x="3286125" y="260680"/>
                  </a:lnTo>
                  <a:lnTo>
                    <a:pt x="3286125" y="244144"/>
                  </a:lnTo>
                  <a:lnTo>
                    <a:pt x="3279660" y="195059"/>
                  </a:lnTo>
                  <a:lnTo>
                    <a:pt x="3263747" y="148183"/>
                  </a:lnTo>
                  <a:lnTo>
                    <a:pt x="3238995" y="105308"/>
                  </a:lnTo>
                  <a:lnTo>
                    <a:pt x="3206343" y="68084"/>
                  </a:lnTo>
                  <a:lnTo>
                    <a:pt x="3167075" y="37947"/>
                  </a:lnTo>
                  <a:lnTo>
                    <a:pt x="3122663" y="16052"/>
                  </a:lnTo>
                  <a:lnTo>
                    <a:pt x="3074847" y="3238"/>
                  </a:lnTo>
                  <a:lnTo>
                    <a:pt x="3050222" y="406"/>
                  </a:lnTo>
                  <a:lnTo>
                    <a:pt x="3041980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2776537"/>
              <a:ext cx="3286125" cy="504825"/>
            </a:xfrm>
            <a:custGeom>
              <a:avLst/>
              <a:gdLst/>
              <a:ahLst/>
              <a:cxnLst/>
              <a:rect l="l" t="t" r="r" b="b"/>
              <a:pathLst>
                <a:path w="3286125" h="504825">
                  <a:moveTo>
                    <a:pt x="0" y="252412"/>
                  </a:moveTo>
                  <a:lnTo>
                    <a:pt x="0" y="244144"/>
                  </a:lnTo>
                  <a:lnTo>
                    <a:pt x="406" y="235902"/>
                  </a:lnTo>
                  <a:lnTo>
                    <a:pt x="1215" y="227672"/>
                  </a:lnTo>
                  <a:lnTo>
                    <a:pt x="2024" y="219443"/>
                  </a:lnTo>
                  <a:lnTo>
                    <a:pt x="10869" y="179146"/>
                  </a:lnTo>
                  <a:lnTo>
                    <a:pt x="13270" y="171221"/>
                  </a:lnTo>
                  <a:lnTo>
                    <a:pt x="29805" y="133426"/>
                  </a:lnTo>
                  <a:lnTo>
                    <a:pt x="33699" y="126136"/>
                  </a:lnTo>
                  <a:lnTo>
                    <a:pt x="57293" y="92278"/>
                  </a:lnTo>
                  <a:lnTo>
                    <a:pt x="85893" y="62534"/>
                  </a:lnTo>
                  <a:lnTo>
                    <a:pt x="119052" y="37947"/>
                  </a:lnTo>
                  <a:lnTo>
                    <a:pt x="155817" y="19215"/>
                  </a:lnTo>
                  <a:lnTo>
                    <a:pt x="195059" y="6464"/>
                  </a:lnTo>
                  <a:lnTo>
                    <a:pt x="203170" y="4851"/>
                  </a:lnTo>
                  <a:lnTo>
                    <a:pt x="211275" y="3238"/>
                  </a:lnTo>
                  <a:lnTo>
                    <a:pt x="219447" y="2019"/>
                  </a:lnTo>
                  <a:lnTo>
                    <a:pt x="227672" y="1219"/>
                  </a:lnTo>
                  <a:lnTo>
                    <a:pt x="235897" y="406"/>
                  </a:lnTo>
                  <a:lnTo>
                    <a:pt x="244147" y="0"/>
                  </a:lnTo>
                  <a:lnTo>
                    <a:pt x="252412" y="0"/>
                  </a:lnTo>
                  <a:lnTo>
                    <a:pt x="3033712" y="0"/>
                  </a:lnTo>
                  <a:lnTo>
                    <a:pt x="3041980" y="0"/>
                  </a:lnTo>
                  <a:lnTo>
                    <a:pt x="3050222" y="406"/>
                  </a:lnTo>
                  <a:lnTo>
                    <a:pt x="3058452" y="1219"/>
                  </a:lnTo>
                  <a:lnTo>
                    <a:pt x="3066681" y="2019"/>
                  </a:lnTo>
                  <a:lnTo>
                    <a:pt x="3074847" y="3238"/>
                  </a:lnTo>
                  <a:lnTo>
                    <a:pt x="3082950" y="4851"/>
                  </a:lnTo>
                  <a:lnTo>
                    <a:pt x="3091065" y="6464"/>
                  </a:lnTo>
                  <a:lnTo>
                    <a:pt x="3130308" y="19215"/>
                  </a:lnTo>
                  <a:lnTo>
                    <a:pt x="3167075" y="37947"/>
                  </a:lnTo>
                  <a:lnTo>
                    <a:pt x="3200234" y="62534"/>
                  </a:lnTo>
                  <a:lnTo>
                    <a:pt x="3228835" y="92278"/>
                  </a:lnTo>
                  <a:lnTo>
                    <a:pt x="3243580" y="112179"/>
                  </a:lnTo>
                  <a:lnTo>
                    <a:pt x="3248177" y="119049"/>
                  </a:lnTo>
                  <a:lnTo>
                    <a:pt x="3266909" y="155816"/>
                  </a:lnTo>
                  <a:lnTo>
                    <a:pt x="3275253" y="179146"/>
                  </a:lnTo>
                  <a:lnTo>
                    <a:pt x="3277654" y="187058"/>
                  </a:lnTo>
                  <a:lnTo>
                    <a:pt x="3284905" y="227672"/>
                  </a:lnTo>
                  <a:lnTo>
                    <a:pt x="3285718" y="235902"/>
                  </a:lnTo>
                  <a:lnTo>
                    <a:pt x="3286125" y="244144"/>
                  </a:lnTo>
                  <a:lnTo>
                    <a:pt x="3286125" y="252412"/>
                  </a:lnTo>
                  <a:lnTo>
                    <a:pt x="3286125" y="260680"/>
                  </a:lnTo>
                  <a:lnTo>
                    <a:pt x="3285718" y="268922"/>
                  </a:lnTo>
                  <a:lnTo>
                    <a:pt x="3284905" y="277152"/>
                  </a:lnTo>
                  <a:lnTo>
                    <a:pt x="3284105" y="285381"/>
                  </a:lnTo>
                  <a:lnTo>
                    <a:pt x="3282886" y="293547"/>
                  </a:lnTo>
                  <a:lnTo>
                    <a:pt x="3281273" y="301650"/>
                  </a:lnTo>
                  <a:lnTo>
                    <a:pt x="3279660" y="309765"/>
                  </a:lnTo>
                  <a:lnTo>
                    <a:pt x="3277654" y="317779"/>
                  </a:lnTo>
                  <a:lnTo>
                    <a:pt x="3275253" y="325678"/>
                  </a:lnTo>
                  <a:lnTo>
                    <a:pt x="3272853" y="333590"/>
                  </a:lnTo>
                  <a:lnTo>
                    <a:pt x="3256318" y="371398"/>
                  </a:lnTo>
                  <a:lnTo>
                    <a:pt x="3243580" y="392645"/>
                  </a:lnTo>
                  <a:lnTo>
                    <a:pt x="3238995" y="399516"/>
                  </a:lnTo>
                  <a:lnTo>
                    <a:pt x="3212198" y="430898"/>
                  </a:lnTo>
                  <a:lnTo>
                    <a:pt x="3193846" y="447522"/>
                  </a:lnTo>
                  <a:lnTo>
                    <a:pt x="3187446" y="452780"/>
                  </a:lnTo>
                  <a:lnTo>
                    <a:pt x="3180816" y="457695"/>
                  </a:lnTo>
                  <a:lnTo>
                    <a:pt x="3173945" y="462280"/>
                  </a:lnTo>
                  <a:lnTo>
                    <a:pt x="3167075" y="466877"/>
                  </a:lnTo>
                  <a:lnTo>
                    <a:pt x="3130308" y="485609"/>
                  </a:lnTo>
                  <a:lnTo>
                    <a:pt x="3091065" y="498360"/>
                  </a:lnTo>
                  <a:lnTo>
                    <a:pt x="3082950" y="499973"/>
                  </a:lnTo>
                  <a:lnTo>
                    <a:pt x="3074847" y="501586"/>
                  </a:lnTo>
                  <a:lnTo>
                    <a:pt x="3066681" y="502793"/>
                  </a:lnTo>
                  <a:lnTo>
                    <a:pt x="3058452" y="503605"/>
                  </a:lnTo>
                  <a:lnTo>
                    <a:pt x="3050222" y="504418"/>
                  </a:lnTo>
                  <a:lnTo>
                    <a:pt x="3041980" y="504825"/>
                  </a:lnTo>
                  <a:lnTo>
                    <a:pt x="3033712" y="504825"/>
                  </a:lnTo>
                  <a:lnTo>
                    <a:pt x="252412" y="504825"/>
                  </a:lnTo>
                  <a:lnTo>
                    <a:pt x="244147" y="504825"/>
                  </a:lnTo>
                  <a:lnTo>
                    <a:pt x="235897" y="504418"/>
                  </a:lnTo>
                  <a:lnTo>
                    <a:pt x="227672" y="503605"/>
                  </a:lnTo>
                  <a:lnTo>
                    <a:pt x="219447" y="502793"/>
                  </a:lnTo>
                  <a:lnTo>
                    <a:pt x="211275" y="501586"/>
                  </a:lnTo>
                  <a:lnTo>
                    <a:pt x="203170" y="499973"/>
                  </a:lnTo>
                  <a:lnTo>
                    <a:pt x="195059" y="498360"/>
                  </a:lnTo>
                  <a:lnTo>
                    <a:pt x="155817" y="485609"/>
                  </a:lnTo>
                  <a:lnTo>
                    <a:pt x="119052" y="466877"/>
                  </a:lnTo>
                  <a:lnTo>
                    <a:pt x="112181" y="462280"/>
                  </a:lnTo>
                  <a:lnTo>
                    <a:pt x="105305" y="457695"/>
                  </a:lnTo>
                  <a:lnTo>
                    <a:pt x="98672" y="452780"/>
                  </a:lnTo>
                  <a:lnTo>
                    <a:pt x="92283" y="447522"/>
                  </a:lnTo>
                  <a:lnTo>
                    <a:pt x="85893" y="442277"/>
                  </a:lnTo>
                  <a:lnTo>
                    <a:pt x="57293" y="412546"/>
                  </a:lnTo>
                  <a:lnTo>
                    <a:pt x="33699" y="378688"/>
                  </a:lnTo>
                  <a:lnTo>
                    <a:pt x="29805" y="371398"/>
                  </a:lnTo>
                  <a:lnTo>
                    <a:pt x="25905" y="364109"/>
                  </a:lnTo>
                  <a:lnTo>
                    <a:pt x="10869" y="325678"/>
                  </a:lnTo>
                  <a:lnTo>
                    <a:pt x="8468" y="317779"/>
                  </a:lnTo>
                  <a:lnTo>
                    <a:pt x="6464" y="309765"/>
                  </a:lnTo>
                  <a:lnTo>
                    <a:pt x="4851" y="301650"/>
                  </a:lnTo>
                  <a:lnTo>
                    <a:pt x="3239" y="293547"/>
                  </a:lnTo>
                  <a:lnTo>
                    <a:pt x="2024" y="285381"/>
                  </a:lnTo>
                  <a:lnTo>
                    <a:pt x="1215" y="277152"/>
                  </a:lnTo>
                  <a:lnTo>
                    <a:pt x="406" y="268922"/>
                  </a:lnTo>
                  <a:lnTo>
                    <a:pt x="0" y="260680"/>
                  </a:lnTo>
                  <a:lnTo>
                    <a:pt x="0" y="252412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0561" y="2890255"/>
              <a:ext cx="224201" cy="26839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58825" y="3421062"/>
            <a:ext cx="2735580" cy="931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Submitted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Papers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submitted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conferences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for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review.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175" y="2771774"/>
            <a:ext cx="3295650" cy="514350"/>
            <a:chOff x="4067175" y="2771774"/>
            <a:chExt cx="3295650" cy="514350"/>
          </a:xfrm>
        </p:grpSpPr>
        <p:sp>
          <p:nvSpPr>
            <p:cNvPr id="9" name="object 9"/>
            <p:cNvSpPr/>
            <p:nvPr/>
          </p:nvSpPr>
          <p:spPr>
            <a:xfrm>
              <a:off x="4071937" y="2776537"/>
              <a:ext cx="3286125" cy="504825"/>
            </a:xfrm>
            <a:custGeom>
              <a:avLst/>
              <a:gdLst/>
              <a:ahLst/>
              <a:cxnLst/>
              <a:rect l="l" t="t" r="r" b="b"/>
              <a:pathLst>
                <a:path w="3286125" h="504825">
                  <a:moveTo>
                    <a:pt x="3041980" y="0"/>
                  </a:moveTo>
                  <a:lnTo>
                    <a:pt x="244144" y="0"/>
                  </a:lnTo>
                  <a:lnTo>
                    <a:pt x="235902" y="406"/>
                  </a:lnTo>
                  <a:lnTo>
                    <a:pt x="195059" y="6464"/>
                  </a:lnTo>
                  <a:lnTo>
                    <a:pt x="148183" y="22377"/>
                  </a:lnTo>
                  <a:lnTo>
                    <a:pt x="105308" y="47129"/>
                  </a:lnTo>
                  <a:lnTo>
                    <a:pt x="68084" y="79768"/>
                  </a:lnTo>
                  <a:lnTo>
                    <a:pt x="37947" y="119049"/>
                  </a:lnTo>
                  <a:lnTo>
                    <a:pt x="16052" y="163449"/>
                  </a:lnTo>
                  <a:lnTo>
                    <a:pt x="3238" y="211277"/>
                  </a:lnTo>
                  <a:lnTo>
                    <a:pt x="0" y="244144"/>
                  </a:lnTo>
                  <a:lnTo>
                    <a:pt x="0" y="252412"/>
                  </a:lnTo>
                  <a:lnTo>
                    <a:pt x="0" y="260680"/>
                  </a:lnTo>
                  <a:lnTo>
                    <a:pt x="6464" y="309765"/>
                  </a:lnTo>
                  <a:lnTo>
                    <a:pt x="22377" y="356641"/>
                  </a:lnTo>
                  <a:lnTo>
                    <a:pt x="47129" y="399516"/>
                  </a:lnTo>
                  <a:lnTo>
                    <a:pt x="79781" y="436740"/>
                  </a:lnTo>
                  <a:lnTo>
                    <a:pt x="119049" y="466877"/>
                  </a:lnTo>
                  <a:lnTo>
                    <a:pt x="163461" y="488772"/>
                  </a:lnTo>
                  <a:lnTo>
                    <a:pt x="211277" y="501586"/>
                  </a:lnTo>
                  <a:lnTo>
                    <a:pt x="244144" y="504825"/>
                  </a:lnTo>
                  <a:lnTo>
                    <a:pt x="3041980" y="504825"/>
                  </a:lnTo>
                  <a:lnTo>
                    <a:pt x="3091065" y="498360"/>
                  </a:lnTo>
                  <a:lnTo>
                    <a:pt x="3137941" y="482447"/>
                  </a:lnTo>
                  <a:lnTo>
                    <a:pt x="3180816" y="457695"/>
                  </a:lnTo>
                  <a:lnTo>
                    <a:pt x="3218040" y="425043"/>
                  </a:lnTo>
                  <a:lnTo>
                    <a:pt x="3248177" y="385762"/>
                  </a:lnTo>
                  <a:lnTo>
                    <a:pt x="3270072" y="341363"/>
                  </a:lnTo>
                  <a:lnTo>
                    <a:pt x="3282886" y="293547"/>
                  </a:lnTo>
                  <a:lnTo>
                    <a:pt x="3286125" y="260680"/>
                  </a:lnTo>
                  <a:lnTo>
                    <a:pt x="3286125" y="244144"/>
                  </a:lnTo>
                  <a:lnTo>
                    <a:pt x="3279660" y="195059"/>
                  </a:lnTo>
                  <a:lnTo>
                    <a:pt x="3263747" y="148183"/>
                  </a:lnTo>
                  <a:lnTo>
                    <a:pt x="3238995" y="105308"/>
                  </a:lnTo>
                  <a:lnTo>
                    <a:pt x="3206343" y="68084"/>
                  </a:lnTo>
                  <a:lnTo>
                    <a:pt x="3167075" y="37947"/>
                  </a:lnTo>
                  <a:lnTo>
                    <a:pt x="3122663" y="16052"/>
                  </a:lnTo>
                  <a:lnTo>
                    <a:pt x="3074847" y="3238"/>
                  </a:lnTo>
                  <a:lnTo>
                    <a:pt x="3050222" y="406"/>
                  </a:lnTo>
                  <a:lnTo>
                    <a:pt x="3041980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71937" y="2776537"/>
              <a:ext cx="3286125" cy="504825"/>
            </a:xfrm>
            <a:custGeom>
              <a:avLst/>
              <a:gdLst/>
              <a:ahLst/>
              <a:cxnLst/>
              <a:rect l="l" t="t" r="r" b="b"/>
              <a:pathLst>
                <a:path w="3286125" h="504825">
                  <a:moveTo>
                    <a:pt x="0" y="252412"/>
                  </a:moveTo>
                  <a:lnTo>
                    <a:pt x="0" y="244144"/>
                  </a:lnTo>
                  <a:lnTo>
                    <a:pt x="406" y="235902"/>
                  </a:lnTo>
                  <a:lnTo>
                    <a:pt x="1219" y="227672"/>
                  </a:lnTo>
                  <a:lnTo>
                    <a:pt x="2019" y="219443"/>
                  </a:lnTo>
                  <a:lnTo>
                    <a:pt x="10871" y="179146"/>
                  </a:lnTo>
                  <a:lnTo>
                    <a:pt x="13271" y="171221"/>
                  </a:lnTo>
                  <a:lnTo>
                    <a:pt x="29806" y="133426"/>
                  </a:lnTo>
                  <a:lnTo>
                    <a:pt x="42545" y="112179"/>
                  </a:lnTo>
                  <a:lnTo>
                    <a:pt x="47129" y="105308"/>
                  </a:lnTo>
                  <a:lnTo>
                    <a:pt x="73926" y="73926"/>
                  </a:lnTo>
                  <a:lnTo>
                    <a:pt x="105308" y="47129"/>
                  </a:lnTo>
                  <a:lnTo>
                    <a:pt x="140716" y="25908"/>
                  </a:lnTo>
                  <a:lnTo>
                    <a:pt x="179133" y="10871"/>
                  </a:lnTo>
                  <a:lnTo>
                    <a:pt x="203174" y="4851"/>
                  </a:lnTo>
                  <a:lnTo>
                    <a:pt x="211277" y="3238"/>
                  </a:lnTo>
                  <a:lnTo>
                    <a:pt x="219443" y="2019"/>
                  </a:lnTo>
                  <a:lnTo>
                    <a:pt x="227672" y="1219"/>
                  </a:lnTo>
                  <a:lnTo>
                    <a:pt x="235902" y="406"/>
                  </a:lnTo>
                  <a:lnTo>
                    <a:pt x="244144" y="0"/>
                  </a:lnTo>
                  <a:lnTo>
                    <a:pt x="252412" y="0"/>
                  </a:lnTo>
                  <a:lnTo>
                    <a:pt x="3033712" y="0"/>
                  </a:lnTo>
                  <a:lnTo>
                    <a:pt x="3041980" y="0"/>
                  </a:lnTo>
                  <a:lnTo>
                    <a:pt x="3050222" y="406"/>
                  </a:lnTo>
                  <a:lnTo>
                    <a:pt x="3058452" y="1219"/>
                  </a:lnTo>
                  <a:lnTo>
                    <a:pt x="3066681" y="2019"/>
                  </a:lnTo>
                  <a:lnTo>
                    <a:pt x="3074847" y="3238"/>
                  </a:lnTo>
                  <a:lnTo>
                    <a:pt x="3082950" y="4851"/>
                  </a:lnTo>
                  <a:lnTo>
                    <a:pt x="3091065" y="6464"/>
                  </a:lnTo>
                  <a:lnTo>
                    <a:pt x="3130308" y="19215"/>
                  </a:lnTo>
                  <a:lnTo>
                    <a:pt x="3152698" y="29806"/>
                  </a:lnTo>
                  <a:lnTo>
                    <a:pt x="3159988" y="33705"/>
                  </a:lnTo>
                  <a:lnTo>
                    <a:pt x="3193846" y="57289"/>
                  </a:lnTo>
                  <a:lnTo>
                    <a:pt x="3223590" y="85890"/>
                  </a:lnTo>
                  <a:lnTo>
                    <a:pt x="3243580" y="112179"/>
                  </a:lnTo>
                  <a:lnTo>
                    <a:pt x="3248177" y="119049"/>
                  </a:lnTo>
                  <a:lnTo>
                    <a:pt x="3252419" y="126136"/>
                  </a:lnTo>
                  <a:lnTo>
                    <a:pt x="3256318" y="133426"/>
                  </a:lnTo>
                  <a:lnTo>
                    <a:pt x="3260217" y="140716"/>
                  </a:lnTo>
                  <a:lnTo>
                    <a:pt x="3263747" y="148183"/>
                  </a:lnTo>
                  <a:lnTo>
                    <a:pt x="3266909" y="155816"/>
                  </a:lnTo>
                  <a:lnTo>
                    <a:pt x="3270072" y="163449"/>
                  </a:lnTo>
                  <a:lnTo>
                    <a:pt x="3272853" y="171221"/>
                  </a:lnTo>
                  <a:lnTo>
                    <a:pt x="3275253" y="179146"/>
                  </a:lnTo>
                  <a:lnTo>
                    <a:pt x="3277654" y="187058"/>
                  </a:lnTo>
                  <a:lnTo>
                    <a:pt x="3284905" y="227672"/>
                  </a:lnTo>
                  <a:lnTo>
                    <a:pt x="3285718" y="235902"/>
                  </a:lnTo>
                  <a:lnTo>
                    <a:pt x="3286125" y="244144"/>
                  </a:lnTo>
                  <a:lnTo>
                    <a:pt x="3286125" y="252412"/>
                  </a:lnTo>
                  <a:lnTo>
                    <a:pt x="3286125" y="260680"/>
                  </a:lnTo>
                  <a:lnTo>
                    <a:pt x="3285718" y="268922"/>
                  </a:lnTo>
                  <a:lnTo>
                    <a:pt x="3284905" y="277152"/>
                  </a:lnTo>
                  <a:lnTo>
                    <a:pt x="3284105" y="285381"/>
                  </a:lnTo>
                  <a:lnTo>
                    <a:pt x="3282886" y="293547"/>
                  </a:lnTo>
                  <a:lnTo>
                    <a:pt x="3281273" y="301650"/>
                  </a:lnTo>
                  <a:lnTo>
                    <a:pt x="3279660" y="309765"/>
                  </a:lnTo>
                  <a:lnTo>
                    <a:pt x="3277654" y="317779"/>
                  </a:lnTo>
                  <a:lnTo>
                    <a:pt x="3275253" y="325678"/>
                  </a:lnTo>
                  <a:lnTo>
                    <a:pt x="3272853" y="333590"/>
                  </a:lnTo>
                  <a:lnTo>
                    <a:pt x="3256318" y="371398"/>
                  </a:lnTo>
                  <a:lnTo>
                    <a:pt x="3252419" y="378688"/>
                  </a:lnTo>
                  <a:lnTo>
                    <a:pt x="3248177" y="385762"/>
                  </a:lnTo>
                  <a:lnTo>
                    <a:pt x="3243580" y="392645"/>
                  </a:lnTo>
                  <a:lnTo>
                    <a:pt x="3238995" y="399516"/>
                  </a:lnTo>
                  <a:lnTo>
                    <a:pt x="3212198" y="430898"/>
                  </a:lnTo>
                  <a:lnTo>
                    <a:pt x="3193846" y="447522"/>
                  </a:lnTo>
                  <a:lnTo>
                    <a:pt x="3187446" y="452780"/>
                  </a:lnTo>
                  <a:lnTo>
                    <a:pt x="3180816" y="457695"/>
                  </a:lnTo>
                  <a:lnTo>
                    <a:pt x="3173945" y="462280"/>
                  </a:lnTo>
                  <a:lnTo>
                    <a:pt x="3167075" y="466877"/>
                  </a:lnTo>
                  <a:lnTo>
                    <a:pt x="3159988" y="471119"/>
                  </a:lnTo>
                  <a:lnTo>
                    <a:pt x="3152698" y="475018"/>
                  </a:lnTo>
                  <a:lnTo>
                    <a:pt x="3145409" y="478917"/>
                  </a:lnTo>
                  <a:lnTo>
                    <a:pt x="3106991" y="493953"/>
                  </a:lnTo>
                  <a:lnTo>
                    <a:pt x="3082950" y="499973"/>
                  </a:lnTo>
                  <a:lnTo>
                    <a:pt x="3074847" y="501586"/>
                  </a:lnTo>
                  <a:lnTo>
                    <a:pt x="3066681" y="502793"/>
                  </a:lnTo>
                  <a:lnTo>
                    <a:pt x="3058452" y="503605"/>
                  </a:lnTo>
                  <a:lnTo>
                    <a:pt x="3050222" y="504418"/>
                  </a:lnTo>
                  <a:lnTo>
                    <a:pt x="3041980" y="504825"/>
                  </a:lnTo>
                  <a:lnTo>
                    <a:pt x="3033712" y="504825"/>
                  </a:lnTo>
                  <a:lnTo>
                    <a:pt x="252412" y="504825"/>
                  </a:lnTo>
                  <a:lnTo>
                    <a:pt x="244144" y="504825"/>
                  </a:lnTo>
                  <a:lnTo>
                    <a:pt x="235902" y="504418"/>
                  </a:lnTo>
                  <a:lnTo>
                    <a:pt x="227672" y="503605"/>
                  </a:lnTo>
                  <a:lnTo>
                    <a:pt x="219443" y="502793"/>
                  </a:lnTo>
                  <a:lnTo>
                    <a:pt x="211277" y="501586"/>
                  </a:lnTo>
                  <a:lnTo>
                    <a:pt x="203174" y="499973"/>
                  </a:lnTo>
                  <a:lnTo>
                    <a:pt x="195059" y="498360"/>
                  </a:lnTo>
                  <a:lnTo>
                    <a:pt x="155816" y="485609"/>
                  </a:lnTo>
                  <a:lnTo>
                    <a:pt x="119049" y="466877"/>
                  </a:lnTo>
                  <a:lnTo>
                    <a:pt x="112179" y="462280"/>
                  </a:lnTo>
                  <a:lnTo>
                    <a:pt x="105308" y="457695"/>
                  </a:lnTo>
                  <a:lnTo>
                    <a:pt x="98679" y="452780"/>
                  </a:lnTo>
                  <a:lnTo>
                    <a:pt x="92278" y="447522"/>
                  </a:lnTo>
                  <a:lnTo>
                    <a:pt x="85890" y="442277"/>
                  </a:lnTo>
                  <a:lnTo>
                    <a:pt x="57289" y="412546"/>
                  </a:lnTo>
                  <a:lnTo>
                    <a:pt x="42545" y="392645"/>
                  </a:lnTo>
                  <a:lnTo>
                    <a:pt x="37947" y="385762"/>
                  </a:lnTo>
                  <a:lnTo>
                    <a:pt x="19215" y="349008"/>
                  </a:lnTo>
                  <a:lnTo>
                    <a:pt x="10871" y="325678"/>
                  </a:lnTo>
                  <a:lnTo>
                    <a:pt x="8470" y="317779"/>
                  </a:lnTo>
                  <a:lnTo>
                    <a:pt x="6464" y="309765"/>
                  </a:lnTo>
                  <a:lnTo>
                    <a:pt x="4851" y="301650"/>
                  </a:lnTo>
                  <a:lnTo>
                    <a:pt x="3238" y="293547"/>
                  </a:lnTo>
                  <a:lnTo>
                    <a:pt x="2019" y="285381"/>
                  </a:lnTo>
                  <a:lnTo>
                    <a:pt x="1219" y="277152"/>
                  </a:lnTo>
                  <a:lnTo>
                    <a:pt x="406" y="268922"/>
                  </a:lnTo>
                  <a:lnTo>
                    <a:pt x="0" y="260680"/>
                  </a:lnTo>
                  <a:lnTo>
                    <a:pt x="0" y="252412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5707" y="2889903"/>
              <a:ext cx="267945" cy="26856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25925" y="3421062"/>
            <a:ext cx="2838450" cy="931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Accepted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Papers</a:t>
            </a:r>
            <a:r>
              <a:rPr sz="1350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that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received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acceptance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from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conferences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like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ICLR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62424"/>
                </a:solidFill>
                <a:latin typeface="Tahoma"/>
                <a:cs typeface="Tahoma"/>
              </a:rPr>
              <a:t>NeurIPS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2771774"/>
            <a:ext cx="3295650" cy="514350"/>
            <a:chOff x="7534275" y="2771774"/>
            <a:chExt cx="3295650" cy="514350"/>
          </a:xfrm>
        </p:grpSpPr>
        <p:sp>
          <p:nvSpPr>
            <p:cNvPr id="14" name="object 14"/>
            <p:cNvSpPr/>
            <p:nvPr/>
          </p:nvSpPr>
          <p:spPr>
            <a:xfrm>
              <a:off x="7539037" y="2776537"/>
              <a:ext cx="3286125" cy="504825"/>
            </a:xfrm>
            <a:custGeom>
              <a:avLst/>
              <a:gdLst/>
              <a:ahLst/>
              <a:cxnLst/>
              <a:rect l="l" t="t" r="r" b="b"/>
              <a:pathLst>
                <a:path w="3286125" h="504825">
                  <a:moveTo>
                    <a:pt x="3041980" y="0"/>
                  </a:moveTo>
                  <a:lnTo>
                    <a:pt x="244144" y="0"/>
                  </a:lnTo>
                  <a:lnTo>
                    <a:pt x="235902" y="406"/>
                  </a:lnTo>
                  <a:lnTo>
                    <a:pt x="195059" y="6464"/>
                  </a:lnTo>
                  <a:lnTo>
                    <a:pt x="148183" y="22377"/>
                  </a:lnTo>
                  <a:lnTo>
                    <a:pt x="105308" y="47129"/>
                  </a:lnTo>
                  <a:lnTo>
                    <a:pt x="68084" y="79768"/>
                  </a:lnTo>
                  <a:lnTo>
                    <a:pt x="37947" y="119049"/>
                  </a:lnTo>
                  <a:lnTo>
                    <a:pt x="16052" y="163449"/>
                  </a:lnTo>
                  <a:lnTo>
                    <a:pt x="3238" y="211277"/>
                  </a:lnTo>
                  <a:lnTo>
                    <a:pt x="0" y="244144"/>
                  </a:lnTo>
                  <a:lnTo>
                    <a:pt x="0" y="252412"/>
                  </a:lnTo>
                  <a:lnTo>
                    <a:pt x="0" y="260680"/>
                  </a:lnTo>
                  <a:lnTo>
                    <a:pt x="6464" y="309765"/>
                  </a:lnTo>
                  <a:lnTo>
                    <a:pt x="22377" y="356641"/>
                  </a:lnTo>
                  <a:lnTo>
                    <a:pt x="47129" y="399516"/>
                  </a:lnTo>
                  <a:lnTo>
                    <a:pt x="79781" y="436740"/>
                  </a:lnTo>
                  <a:lnTo>
                    <a:pt x="119049" y="466877"/>
                  </a:lnTo>
                  <a:lnTo>
                    <a:pt x="163461" y="488772"/>
                  </a:lnTo>
                  <a:lnTo>
                    <a:pt x="211277" y="501586"/>
                  </a:lnTo>
                  <a:lnTo>
                    <a:pt x="244144" y="504825"/>
                  </a:lnTo>
                  <a:lnTo>
                    <a:pt x="3041980" y="504825"/>
                  </a:lnTo>
                  <a:lnTo>
                    <a:pt x="3091065" y="498360"/>
                  </a:lnTo>
                  <a:lnTo>
                    <a:pt x="3137941" y="482447"/>
                  </a:lnTo>
                  <a:lnTo>
                    <a:pt x="3180816" y="457695"/>
                  </a:lnTo>
                  <a:lnTo>
                    <a:pt x="3218040" y="425043"/>
                  </a:lnTo>
                  <a:lnTo>
                    <a:pt x="3248177" y="385762"/>
                  </a:lnTo>
                  <a:lnTo>
                    <a:pt x="3270072" y="341363"/>
                  </a:lnTo>
                  <a:lnTo>
                    <a:pt x="3282886" y="293547"/>
                  </a:lnTo>
                  <a:lnTo>
                    <a:pt x="3286125" y="260680"/>
                  </a:lnTo>
                  <a:lnTo>
                    <a:pt x="3286125" y="244144"/>
                  </a:lnTo>
                  <a:lnTo>
                    <a:pt x="3279660" y="195059"/>
                  </a:lnTo>
                  <a:lnTo>
                    <a:pt x="3263747" y="148183"/>
                  </a:lnTo>
                  <a:lnTo>
                    <a:pt x="3238995" y="105308"/>
                  </a:lnTo>
                  <a:lnTo>
                    <a:pt x="3206343" y="68084"/>
                  </a:lnTo>
                  <a:lnTo>
                    <a:pt x="3167075" y="37947"/>
                  </a:lnTo>
                  <a:lnTo>
                    <a:pt x="3122663" y="16052"/>
                  </a:lnTo>
                  <a:lnTo>
                    <a:pt x="3074847" y="3238"/>
                  </a:lnTo>
                  <a:lnTo>
                    <a:pt x="3050222" y="406"/>
                  </a:lnTo>
                  <a:lnTo>
                    <a:pt x="3041980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39037" y="2776537"/>
              <a:ext cx="3286125" cy="504825"/>
            </a:xfrm>
            <a:custGeom>
              <a:avLst/>
              <a:gdLst/>
              <a:ahLst/>
              <a:cxnLst/>
              <a:rect l="l" t="t" r="r" b="b"/>
              <a:pathLst>
                <a:path w="3286125" h="504825">
                  <a:moveTo>
                    <a:pt x="0" y="252412"/>
                  </a:moveTo>
                  <a:lnTo>
                    <a:pt x="0" y="244144"/>
                  </a:lnTo>
                  <a:lnTo>
                    <a:pt x="406" y="235902"/>
                  </a:lnTo>
                  <a:lnTo>
                    <a:pt x="1219" y="227672"/>
                  </a:lnTo>
                  <a:lnTo>
                    <a:pt x="2019" y="219443"/>
                  </a:lnTo>
                  <a:lnTo>
                    <a:pt x="10871" y="179146"/>
                  </a:lnTo>
                  <a:lnTo>
                    <a:pt x="13271" y="171221"/>
                  </a:lnTo>
                  <a:lnTo>
                    <a:pt x="16052" y="163449"/>
                  </a:lnTo>
                  <a:lnTo>
                    <a:pt x="19215" y="155816"/>
                  </a:lnTo>
                  <a:lnTo>
                    <a:pt x="22377" y="148183"/>
                  </a:lnTo>
                  <a:lnTo>
                    <a:pt x="25908" y="140716"/>
                  </a:lnTo>
                  <a:lnTo>
                    <a:pt x="29806" y="133426"/>
                  </a:lnTo>
                  <a:lnTo>
                    <a:pt x="33705" y="126136"/>
                  </a:lnTo>
                  <a:lnTo>
                    <a:pt x="37947" y="119049"/>
                  </a:lnTo>
                  <a:lnTo>
                    <a:pt x="42545" y="112179"/>
                  </a:lnTo>
                  <a:lnTo>
                    <a:pt x="47129" y="105308"/>
                  </a:lnTo>
                  <a:lnTo>
                    <a:pt x="73926" y="73926"/>
                  </a:lnTo>
                  <a:lnTo>
                    <a:pt x="105308" y="47129"/>
                  </a:lnTo>
                  <a:lnTo>
                    <a:pt x="133426" y="29806"/>
                  </a:lnTo>
                  <a:lnTo>
                    <a:pt x="140716" y="25908"/>
                  </a:lnTo>
                  <a:lnTo>
                    <a:pt x="179133" y="10871"/>
                  </a:lnTo>
                  <a:lnTo>
                    <a:pt x="203174" y="4851"/>
                  </a:lnTo>
                  <a:lnTo>
                    <a:pt x="211277" y="3238"/>
                  </a:lnTo>
                  <a:lnTo>
                    <a:pt x="219443" y="2019"/>
                  </a:lnTo>
                  <a:lnTo>
                    <a:pt x="227672" y="1219"/>
                  </a:lnTo>
                  <a:lnTo>
                    <a:pt x="235902" y="406"/>
                  </a:lnTo>
                  <a:lnTo>
                    <a:pt x="244144" y="0"/>
                  </a:lnTo>
                  <a:lnTo>
                    <a:pt x="252412" y="0"/>
                  </a:lnTo>
                  <a:lnTo>
                    <a:pt x="3033712" y="0"/>
                  </a:lnTo>
                  <a:lnTo>
                    <a:pt x="3041980" y="0"/>
                  </a:lnTo>
                  <a:lnTo>
                    <a:pt x="3050222" y="406"/>
                  </a:lnTo>
                  <a:lnTo>
                    <a:pt x="3058452" y="1219"/>
                  </a:lnTo>
                  <a:lnTo>
                    <a:pt x="3066681" y="2019"/>
                  </a:lnTo>
                  <a:lnTo>
                    <a:pt x="3074847" y="3238"/>
                  </a:lnTo>
                  <a:lnTo>
                    <a:pt x="3082950" y="4851"/>
                  </a:lnTo>
                  <a:lnTo>
                    <a:pt x="3091065" y="6464"/>
                  </a:lnTo>
                  <a:lnTo>
                    <a:pt x="3130308" y="19215"/>
                  </a:lnTo>
                  <a:lnTo>
                    <a:pt x="3167075" y="37947"/>
                  </a:lnTo>
                  <a:lnTo>
                    <a:pt x="3200234" y="62534"/>
                  </a:lnTo>
                  <a:lnTo>
                    <a:pt x="3228835" y="92278"/>
                  </a:lnTo>
                  <a:lnTo>
                    <a:pt x="3243580" y="112179"/>
                  </a:lnTo>
                  <a:lnTo>
                    <a:pt x="3248177" y="119049"/>
                  </a:lnTo>
                  <a:lnTo>
                    <a:pt x="3266909" y="155816"/>
                  </a:lnTo>
                  <a:lnTo>
                    <a:pt x="3275253" y="179146"/>
                  </a:lnTo>
                  <a:lnTo>
                    <a:pt x="3277654" y="187058"/>
                  </a:lnTo>
                  <a:lnTo>
                    <a:pt x="3284905" y="227672"/>
                  </a:lnTo>
                  <a:lnTo>
                    <a:pt x="3285718" y="235902"/>
                  </a:lnTo>
                  <a:lnTo>
                    <a:pt x="3286125" y="244144"/>
                  </a:lnTo>
                  <a:lnTo>
                    <a:pt x="3286125" y="252412"/>
                  </a:lnTo>
                  <a:lnTo>
                    <a:pt x="3286125" y="260680"/>
                  </a:lnTo>
                  <a:lnTo>
                    <a:pt x="3285718" y="268922"/>
                  </a:lnTo>
                  <a:lnTo>
                    <a:pt x="3284905" y="277152"/>
                  </a:lnTo>
                  <a:lnTo>
                    <a:pt x="3284105" y="285381"/>
                  </a:lnTo>
                  <a:lnTo>
                    <a:pt x="3282886" y="293547"/>
                  </a:lnTo>
                  <a:lnTo>
                    <a:pt x="3281273" y="301650"/>
                  </a:lnTo>
                  <a:lnTo>
                    <a:pt x="3279660" y="309765"/>
                  </a:lnTo>
                  <a:lnTo>
                    <a:pt x="3277654" y="317779"/>
                  </a:lnTo>
                  <a:lnTo>
                    <a:pt x="3275253" y="325678"/>
                  </a:lnTo>
                  <a:lnTo>
                    <a:pt x="3272853" y="333590"/>
                  </a:lnTo>
                  <a:lnTo>
                    <a:pt x="3256318" y="371398"/>
                  </a:lnTo>
                  <a:lnTo>
                    <a:pt x="3243580" y="392645"/>
                  </a:lnTo>
                  <a:lnTo>
                    <a:pt x="3238995" y="399516"/>
                  </a:lnTo>
                  <a:lnTo>
                    <a:pt x="3212198" y="430898"/>
                  </a:lnTo>
                  <a:lnTo>
                    <a:pt x="3193846" y="447522"/>
                  </a:lnTo>
                  <a:lnTo>
                    <a:pt x="3187446" y="452780"/>
                  </a:lnTo>
                  <a:lnTo>
                    <a:pt x="3180816" y="457695"/>
                  </a:lnTo>
                  <a:lnTo>
                    <a:pt x="3173945" y="462280"/>
                  </a:lnTo>
                  <a:lnTo>
                    <a:pt x="3167075" y="466877"/>
                  </a:lnTo>
                  <a:lnTo>
                    <a:pt x="3130308" y="485609"/>
                  </a:lnTo>
                  <a:lnTo>
                    <a:pt x="3091065" y="498360"/>
                  </a:lnTo>
                  <a:lnTo>
                    <a:pt x="3082950" y="499973"/>
                  </a:lnTo>
                  <a:lnTo>
                    <a:pt x="3074847" y="501586"/>
                  </a:lnTo>
                  <a:lnTo>
                    <a:pt x="3066681" y="502793"/>
                  </a:lnTo>
                  <a:lnTo>
                    <a:pt x="3058452" y="503605"/>
                  </a:lnTo>
                  <a:lnTo>
                    <a:pt x="3050222" y="504418"/>
                  </a:lnTo>
                  <a:lnTo>
                    <a:pt x="3041980" y="504825"/>
                  </a:lnTo>
                  <a:lnTo>
                    <a:pt x="3033712" y="504825"/>
                  </a:lnTo>
                  <a:lnTo>
                    <a:pt x="252412" y="504825"/>
                  </a:lnTo>
                  <a:lnTo>
                    <a:pt x="244144" y="504825"/>
                  </a:lnTo>
                  <a:lnTo>
                    <a:pt x="235902" y="504418"/>
                  </a:lnTo>
                  <a:lnTo>
                    <a:pt x="227672" y="503605"/>
                  </a:lnTo>
                  <a:lnTo>
                    <a:pt x="219443" y="502793"/>
                  </a:lnTo>
                  <a:lnTo>
                    <a:pt x="211277" y="501586"/>
                  </a:lnTo>
                  <a:lnTo>
                    <a:pt x="203174" y="499973"/>
                  </a:lnTo>
                  <a:lnTo>
                    <a:pt x="195059" y="498360"/>
                  </a:lnTo>
                  <a:lnTo>
                    <a:pt x="155816" y="485609"/>
                  </a:lnTo>
                  <a:lnTo>
                    <a:pt x="133426" y="475018"/>
                  </a:lnTo>
                  <a:lnTo>
                    <a:pt x="126136" y="471119"/>
                  </a:lnTo>
                  <a:lnTo>
                    <a:pt x="119049" y="466877"/>
                  </a:lnTo>
                  <a:lnTo>
                    <a:pt x="112179" y="462280"/>
                  </a:lnTo>
                  <a:lnTo>
                    <a:pt x="105308" y="457695"/>
                  </a:lnTo>
                  <a:lnTo>
                    <a:pt x="98679" y="452780"/>
                  </a:lnTo>
                  <a:lnTo>
                    <a:pt x="92278" y="447522"/>
                  </a:lnTo>
                  <a:lnTo>
                    <a:pt x="85890" y="442277"/>
                  </a:lnTo>
                  <a:lnTo>
                    <a:pt x="57289" y="412546"/>
                  </a:lnTo>
                  <a:lnTo>
                    <a:pt x="42545" y="392645"/>
                  </a:lnTo>
                  <a:lnTo>
                    <a:pt x="37947" y="385762"/>
                  </a:lnTo>
                  <a:lnTo>
                    <a:pt x="33705" y="378688"/>
                  </a:lnTo>
                  <a:lnTo>
                    <a:pt x="29806" y="371398"/>
                  </a:lnTo>
                  <a:lnTo>
                    <a:pt x="25908" y="364109"/>
                  </a:lnTo>
                  <a:lnTo>
                    <a:pt x="10871" y="325678"/>
                  </a:lnTo>
                  <a:lnTo>
                    <a:pt x="8470" y="317779"/>
                  </a:lnTo>
                  <a:lnTo>
                    <a:pt x="6464" y="309765"/>
                  </a:lnTo>
                  <a:lnTo>
                    <a:pt x="4851" y="301650"/>
                  </a:lnTo>
                  <a:lnTo>
                    <a:pt x="3238" y="293547"/>
                  </a:lnTo>
                  <a:lnTo>
                    <a:pt x="2019" y="285381"/>
                  </a:lnTo>
                  <a:lnTo>
                    <a:pt x="1219" y="277152"/>
                  </a:lnTo>
                  <a:lnTo>
                    <a:pt x="406" y="268922"/>
                  </a:lnTo>
                  <a:lnTo>
                    <a:pt x="0" y="260680"/>
                  </a:lnTo>
                  <a:lnTo>
                    <a:pt x="0" y="252412"/>
                  </a:lnTo>
                  <a:close/>
                </a:path>
              </a:pathLst>
            </a:custGeom>
            <a:ln w="9525">
              <a:solidFill>
                <a:srgbClr val="CECE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3719" y="2889761"/>
              <a:ext cx="266324" cy="26871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92808" y="3421062"/>
            <a:ext cx="2666365" cy="931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Waiting</a:t>
            </a:r>
            <a:r>
              <a:rPr sz="1650" spc="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262424"/>
                </a:solidFill>
                <a:latin typeface="Georgia"/>
                <a:cs typeface="Georgia"/>
              </a:rPr>
              <a:t>for</a:t>
            </a:r>
            <a:r>
              <a:rPr sz="1650" spc="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650" spc="-10" dirty="0">
                <a:solidFill>
                  <a:srgbClr val="262424"/>
                </a:solidFill>
                <a:latin typeface="Georgia"/>
                <a:cs typeface="Georgia"/>
              </a:rPr>
              <a:t>Conference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Papers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currently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awaiting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decisions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from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various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conferences.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607434"/>
            <a:ext cx="4286250" cy="583146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04837" y="757237"/>
            <a:ext cx="1466850" cy="333375"/>
          </a:xfrm>
          <a:custGeom>
            <a:avLst/>
            <a:gdLst/>
            <a:ahLst/>
            <a:cxnLst/>
            <a:rect l="l" t="t" r="r" b="b"/>
            <a:pathLst>
              <a:path w="1466850" h="333375">
                <a:moveTo>
                  <a:pt x="0" y="290131"/>
                </a:moveTo>
                <a:lnTo>
                  <a:pt x="0" y="43243"/>
                </a:lnTo>
                <a:lnTo>
                  <a:pt x="0" y="37515"/>
                </a:lnTo>
                <a:lnTo>
                  <a:pt x="1096" y="31991"/>
                </a:lnTo>
                <a:lnTo>
                  <a:pt x="3294" y="26695"/>
                </a:lnTo>
                <a:lnTo>
                  <a:pt x="5486" y="21399"/>
                </a:lnTo>
                <a:lnTo>
                  <a:pt x="8611" y="16713"/>
                </a:lnTo>
                <a:lnTo>
                  <a:pt x="12665" y="12661"/>
                </a:lnTo>
                <a:lnTo>
                  <a:pt x="16718" y="8610"/>
                </a:lnTo>
                <a:lnTo>
                  <a:pt x="21396" y="5486"/>
                </a:lnTo>
                <a:lnTo>
                  <a:pt x="26695" y="3289"/>
                </a:lnTo>
                <a:lnTo>
                  <a:pt x="31992" y="1092"/>
                </a:lnTo>
                <a:lnTo>
                  <a:pt x="37509" y="0"/>
                </a:lnTo>
                <a:lnTo>
                  <a:pt x="43244" y="0"/>
                </a:lnTo>
                <a:lnTo>
                  <a:pt x="1423606" y="0"/>
                </a:lnTo>
                <a:lnTo>
                  <a:pt x="1429334" y="0"/>
                </a:lnTo>
                <a:lnTo>
                  <a:pt x="1434858" y="1092"/>
                </a:lnTo>
                <a:lnTo>
                  <a:pt x="1440154" y="3289"/>
                </a:lnTo>
                <a:lnTo>
                  <a:pt x="1445450" y="5486"/>
                </a:lnTo>
                <a:lnTo>
                  <a:pt x="1450136" y="8610"/>
                </a:lnTo>
                <a:lnTo>
                  <a:pt x="1454188" y="12661"/>
                </a:lnTo>
                <a:lnTo>
                  <a:pt x="1458239" y="16713"/>
                </a:lnTo>
                <a:lnTo>
                  <a:pt x="1461363" y="21399"/>
                </a:lnTo>
                <a:lnTo>
                  <a:pt x="1463560" y="26695"/>
                </a:lnTo>
                <a:lnTo>
                  <a:pt x="1465757" y="31991"/>
                </a:lnTo>
                <a:lnTo>
                  <a:pt x="1466850" y="37515"/>
                </a:lnTo>
                <a:lnTo>
                  <a:pt x="1466850" y="43243"/>
                </a:lnTo>
                <a:lnTo>
                  <a:pt x="1466850" y="290131"/>
                </a:lnTo>
                <a:lnTo>
                  <a:pt x="1466850" y="295871"/>
                </a:lnTo>
                <a:lnTo>
                  <a:pt x="1465757" y="301383"/>
                </a:lnTo>
                <a:lnTo>
                  <a:pt x="1463560" y="306679"/>
                </a:lnTo>
                <a:lnTo>
                  <a:pt x="1461363" y="311975"/>
                </a:lnTo>
                <a:lnTo>
                  <a:pt x="1429334" y="333375"/>
                </a:lnTo>
                <a:lnTo>
                  <a:pt x="1423606" y="333375"/>
                </a:lnTo>
                <a:lnTo>
                  <a:pt x="43244" y="333375"/>
                </a:lnTo>
                <a:lnTo>
                  <a:pt x="37509" y="333375"/>
                </a:lnTo>
                <a:lnTo>
                  <a:pt x="31992" y="332270"/>
                </a:lnTo>
                <a:lnTo>
                  <a:pt x="3294" y="306679"/>
                </a:lnTo>
                <a:lnTo>
                  <a:pt x="1096" y="301383"/>
                </a:lnTo>
                <a:lnTo>
                  <a:pt x="0" y="295871"/>
                </a:lnTo>
                <a:lnTo>
                  <a:pt x="0" y="290131"/>
                </a:lnTo>
                <a:close/>
              </a:path>
            </a:pathLst>
          </a:custGeom>
          <a:ln w="9525">
            <a:solidFill>
              <a:srgbClr val="E5E5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831214"/>
            <a:ext cx="1277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50" dirty="0">
                <a:solidFill>
                  <a:srgbClr val="E5E5E0"/>
                </a:solidFill>
                <a:latin typeface="Tahoma"/>
                <a:cs typeface="Tahoma"/>
              </a:rPr>
              <a:t>FURTHER</a:t>
            </a:r>
            <a:r>
              <a:rPr sz="1050" spc="-125" dirty="0">
                <a:solidFill>
                  <a:srgbClr val="E5E5E0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E5E5E0"/>
                </a:solidFill>
                <a:latin typeface="Tahoma"/>
                <a:cs typeface="Tahoma"/>
              </a:rPr>
              <a:t>READING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111250"/>
            <a:ext cx="21024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/>
          <p:nvPr/>
        </p:nvSpPr>
        <p:spPr>
          <a:xfrm>
            <a:off x="628650" y="2076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650" y="2686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650" y="3286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8650" y="3895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8650" y="4505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7375" y="1917064"/>
            <a:ext cx="5901055" cy="374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880744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Devlin,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Tahoma"/>
                <a:cs typeface="Tahoma"/>
              </a:rPr>
              <a:t>J.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et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al.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(2019).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BERT: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70" dirty="0">
                <a:solidFill>
                  <a:srgbClr val="262424"/>
                </a:solidFill>
                <a:latin typeface="Tahoma"/>
                <a:cs typeface="Tahoma"/>
              </a:rPr>
              <a:t>Pre-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training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75" dirty="0">
                <a:solidFill>
                  <a:srgbClr val="262424"/>
                </a:solidFill>
                <a:latin typeface="Tahoma"/>
                <a:cs typeface="Tahoma"/>
              </a:rPr>
              <a:t>Deep</a:t>
            </a:r>
            <a:r>
              <a:rPr sz="1350" b="1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62424"/>
                </a:solidFill>
                <a:latin typeface="Tahoma"/>
                <a:cs typeface="Tahoma"/>
              </a:rPr>
              <a:t>Bidirectional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Transformers</a:t>
            </a:r>
            <a:r>
              <a:rPr sz="1350" b="1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b="1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20" dirty="0">
                <a:solidFill>
                  <a:srgbClr val="262424"/>
                </a:solidFill>
                <a:latin typeface="Tahoma"/>
                <a:cs typeface="Tahoma"/>
              </a:rPr>
              <a:t>Language</a:t>
            </a:r>
            <a:r>
              <a:rPr sz="1350" b="1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Understanding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u="sng" spc="-8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arXiv:1810.04805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286385" marR="5080">
              <a:lnSpc>
                <a:spcPct val="129600"/>
              </a:lnSpc>
              <a:spcBef>
                <a:spcPts val="600"/>
              </a:spcBef>
            </a:pP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Wang,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W.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Y.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(2017).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"Fake 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News"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Detection: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Survey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75" dirty="0">
                <a:solidFill>
                  <a:srgbClr val="262424"/>
                </a:solidFill>
                <a:latin typeface="Tahoma"/>
                <a:cs typeface="Tahoma"/>
              </a:rPr>
              <a:t>Machine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70" dirty="0">
                <a:solidFill>
                  <a:srgbClr val="262424"/>
                </a:solidFill>
                <a:latin typeface="Tahoma"/>
                <a:cs typeface="Tahoma"/>
              </a:rPr>
              <a:t>Learning </a:t>
            </a: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Approaches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u="sng" spc="-3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arXiv:1708.01967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286385" marR="183515">
              <a:lnSpc>
                <a:spcPct val="134300"/>
              </a:lnSpc>
              <a:spcBef>
                <a:spcPts val="450"/>
              </a:spcBef>
            </a:pP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Thorne,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Tahoma"/>
                <a:cs typeface="Tahoma"/>
              </a:rPr>
              <a:t>J.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et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al.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(2018).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424"/>
                </a:solidFill>
                <a:latin typeface="Tahoma"/>
                <a:cs typeface="Tahoma"/>
              </a:rPr>
              <a:t>FEVER: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20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Large-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scale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Dataset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424"/>
                </a:solidFill>
                <a:latin typeface="Tahoma"/>
                <a:cs typeface="Tahoma"/>
              </a:rPr>
              <a:t>Fact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62424"/>
                </a:solidFill>
                <a:latin typeface="Tahoma"/>
                <a:cs typeface="Tahoma"/>
              </a:rPr>
              <a:t>Extraction 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b="1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75" dirty="0">
                <a:solidFill>
                  <a:srgbClr val="262424"/>
                </a:solidFill>
                <a:latin typeface="Tahoma"/>
                <a:cs typeface="Tahoma"/>
              </a:rPr>
              <a:t>VERification</a:t>
            </a:r>
            <a:r>
              <a:rPr sz="1350" spc="-75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u="sng" spc="-3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ACL</a:t>
            </a:r>
            <a:r>
              <a:rPr sz="1350" b="1" u="sng" spc="-8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9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2018</a:t>
            </a:r>
            <a:r>
              <a:rPr sz="1350" b="1" u="sng" spc="-8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1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Proceedings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Guo,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H.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et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al.</a:t>
            </a:r>
            <a:r>
              <a:rPr sz="1350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(2022).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Explainable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AI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Fake News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Detection: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62424"/>
                </a:solidFill>
                <a:latin typeface="Tahoma"/>
                <a:cs typeface="Tahoma"/>
              </a:rPr>
              <a:t>Review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555"/>
              </a:spcBef>
            </a:pPr>
            <a:r>
              <a:rPr sz="1350" b="1" u="sng" spc="-9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Journal</a:t>
            </a:r>
            <a:r>
              <a:rPr sz="1350" b="1" u="sng" spc="-12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6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of</a:t>
            </a:r>
            <a:r>
              <a:rPr sz="1350" b="1" u="sng" spc="-12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9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Information</a:t>
            </a:r>
            <a:r>
              <a:rPr sz="1350" b="1" u="sng" spc="-12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9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Science</a:t>
            </a:r>
            <a:r>
              <a:rPr sz="1350" b="1" spc="-90" dirty="0">
                <a:solidFill>
                  <a:srgbClr val="6F6F5D"/>
                </a:solidFill>
                <a:latin typeface="Tahoma"/>
                <a:cs typeface="Tahoma"/>
              </a:rPr>
              <a:t>,</a:t>
            </a:r>
            <a:r>
              <a:rPr sz="1350" b="1" u="sng" spc="-4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6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Vol</a:t>
            </a:r>
            <a:r>
              <a:rPr sz="1350" b="1" u="sng" spc="-12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 </a:t>
            </a:r>
            <a:r>
              <a:rPr sz="1350" b="1" u="sng" spc="-1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48</a:t>
            </a:r>
            <a:r>
              <a:rPr sz="1350" b="1" spc="-10" dirty="0">
                <a:solidFill>
                  <a:srgbClr val="6F6F5D"/>
                </a:solidFill>
                <a:latin typeface="Tahoma"/>
                <a:cs typeface="Tahoma"/>
              </a:rPr>
              <a:t>(</a:t>
            </a:r>
            <a:r>
              <a:rPr sz="1350" b="1" u="sng" spc="-10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</a:rPr>
              <a:t>3</a:t>
            </a:r>
            <a:r>
              <a:rPr sz="1350" b="1" spc="-10" dirty="0">
                <a:solidFill>
                  <a:srgbClr val="6F6F5D"/>
                </a:solidFill>
                <a:latin typeface="Tahoma"/>
                <a:cs typeface="Tahoma"/>
              </a:rPr>
              <a:t>)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286385" marR="422909">
              <a:lnSpc>
                <a:spcPct val="134300"/>
              </a:lnSpc>
              <a:spcBef>
                <a:spcPts val="45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OpenFactCheck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Database.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(Ongoing). </a:t>
            </a:r>
            <a:r>
              <a:rPr sz="1350" b="1" spc="-90" dirty="0">
                <a:solidFill>
                  <a:srgbClr val="262424"/>
                </a:solidFill>
                <a:latin typeface="Tahoma"/>
                <a:cs typeface="Tahoma"/>
              </a:rPr>
              <a:t>Comprehensive</a:t>
            </a:r>
            <a:r>
              <a:rPr sz="1350" b="1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80" dirty="0">
                <a:solidFill>
                  <a:srgbClr val="262424"/>
                </a:solidFill>
                <a:latin typeface="Tahoma"/>
                <a:cs typeface="Tahoma"/>
              </a:rPr>
              <a:t>real-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time</a:t>
            </a:r>
            <a:r>
              <a:rPr sz="1350" b="1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262424"/>
                </a:solidFill>
                <a:latin typeface="Tahoma"/>
                <a:cs typeface="Tahoma"/>
              </a:rPr>
              <a:t>fact-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checking</a:t>
            </a:r>
            <a:r>
              <a:rPr sz="1350" b="1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u="sng" spc="-55" dirty="0">
                <a:solidFill>
                  <a:srgbClr val="6F6F5D"/>
                </a:solidFill>
                <a:uFill>
                  <a:solidFill>
                    <a:srgbClr val="6F6F5D"/>
                  </a:solidFill>
                </a:uFill>
                <a:latin typeface="Tahoma"/>
                <a:cs typeface="Tahoma"/>
                <a:hlinkClick r:id="rId3"/>
              </a:rPr>
              <a:t>www.openfactcheck.org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  <a:hlinkClick r:id="rId3"/>
              </a:rPr>
              <a:t>.</a:t>
            </a:r>
            <a:endParaRPr sz="1350">
              <a:latin typeface="Tahoma"/>
              <a:cs typeface="Tahoma"/>
            </a:endParaRPr>
          </a:p>
          <a:p>
            <a:pPr marL="12700" marR="11430">
              <a:lnSpc>
                <a:spcPct val="134300"/>
              </a:lnSpc>
              <a:spcBef>
                <a:spcPts val="1495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These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foundational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works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resources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provide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deeper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insights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into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AI-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driven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misinformation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detection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NLP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advancements.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529</Words>
  <Application>Microsoft Office PowerPoint</Application>
  <PresentationFormat>Custom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Georgia</vt:lpstr>
      <vt:lpstr>Tahoma</vt:lpstr>
      <vt:lpstr>Office Theme</vt:lpstr>
      <vt:lpstr>TruthLens AI</vt:lpstr>
      <vt:lpstr>The Problem</vt:lpstr>
      <vt:lpstr>What Prior Research Missed</vt:lpstr>
      <vt:lpstr>Limitations of Traditional Approaches</vt:lpstr>
      <vt:lpstr>Proposed System: TruthLens AI</vt:lpstr>
      <vt:lpstr>Hardware &amp; Software Stack</vt:lpstr>
      <vt:lpstr>System Modules</vt:lpstr>
      <vt:lpstr>System Architecture</vt:lpstr>
      <vt:lpstr>Results &amp; Performance</vt:lpstr>
      <vt:lpstr>Publication Progress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saketh ram</cp:lastModifiedBy>
  <cp:revision>1</cp:revision>
  <dcterms:created xsi:type="dcterms:W3CDTF">2026-04-07T18:04:21Z</dcterms:created>
  <dcterms:modified xsi:type="dcterms:W3CDTF">2026-04-07T18:21:10Z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2026-04-07T00:00:00Z</vt:filetime>
  </property>
  <property fmtid="{D5CDD505-2E9C-101B-9397-08002B2CF9AE}" pid="5" name="Producer">
    <vt:lpwstr>GPL Ghostscript 9.56.1</vt:lpwstr>
  </property>
</Properties>
</file>